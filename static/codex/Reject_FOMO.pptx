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bae4af730b4d14" /><Relationship Type="http://schemas.openxmlformats.org/officeDocument/2006/relationships/extended-properties" Target="/docProps/app.xml" Id="R7751d13392e34020" /><Relationship Type="http://schemas.openxmlformats.org/officeDocument/2006/relationships/officeDocument" Target="/ppt/presentation.xml" Id="R36dfb351db2445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dd6fce30c043ea"/>
  </p:sldMasterIdLst>
  <p:notesMasterIdLst>
    <p:notesMasterId xmlns:r="http://schemas.openxmlformats.org/officeDocument/2006/relationships" r:id="R8e14a63fbaa44745"/>
  </p:notesMasterIdLst>
  <p:sldIdLst>
    <p:sldId xmlns:r="http://schemas.openxmlformats.org/officeDocument/2006/relationships" id="256" r:id="R8d63e684c1d8457f"/>
    <p:sldId xmlns:r="http://schemas.openxmlformats.org/officeDocument/2006/relationships" id="257" r:id="Rb714fdf0bfb84bd4"/>
    <p:sldId xmlns:r="http://schemas.openxmlformats.org/officeDocument/2006/relationships" id="258" r:id="Rf4171c2a128545f5"/>
    <p:sldId xmlns:r="http://schemas.openxmlformats.org/officeDocument/2006/relationships" id="259" r:id="R910338a82984433e"/>
    <p:sldId xmlns:r="http://schemas.openxmlformats.org/officeDocument/2006/relationships" id="260" r:id="R35811e6eac654e8a"/>
    <p:sldId xmlns:r="http://schemas.openxmlformats.org/officeDocument/2006/relationships" id="261" r:id="Rc602126a5ec2412c"/>
    <p:sldId xmlns:r="http://schemas.openxmlformats.org/officeDocument/2006/relationships" id="262" r:id="Re6775cb96c7a44ae"/>
    <p:sldId xmlns:r="http://schemas.openxmlformats.org/officeDocument/2006/relationships" id="263" r:id="R8fa2024ff3bc47f0"/>
    <p:sldId xmlns:r="http://schemas.openxmlformats.org/officeDocument/2006/relationships" id="264" r:id="R7d8a7f01d4884b3e"/>
    <p:sldId xmlns:r="http://schemas.openxmlformats.org/officeDocument/2006/relationships" id="265" r:id="R2c87131445b44cd8"/>
    <p:sldId xmlns:r="http://schemas.openxmlformats.org/officeDocument/2006/relationships" id="266" r:id="R6d047e9717c2471b"/>
    <p:sldId xmlns:r="http://schemas.openxmlformats.org/officeDocument/2006/relationships" id="267" r:id="R835c848a283244f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20c7677e7b44c8" /><Relationship Type="http://schemas.openxmlformats.org/officeDocument/2006/relationships/slideMaster" Target="/ppt/slideMasters/slideMaster1.xml" Id="Ra5dd6fce30c043ea" /><Relationship Type="http://schemas.openxmlformats.org/officeDocument/2006/relationships/notesMaster" Target="/ppt/notesMasters/notesMaster1.xml" Id="R8e14a63fbaa44745" /><Relationship Type="http://schemas.openxmlformats.org/officeDocument/2006/relationships/presProps" Target="/ppt/presProps.xml" Id="R9b51a4a708ab43db" /><Relationship Type="http://schemas.openxmlformats.org/officeDocument/2006/relationships/tableStyles" Target="/ppt/tableStyles.xml" Id="R00ba749e30374f5f" /><Relationship Type="http://schemas.openxmlformats.org/officeDocument/2006/relationships/slide" Target="/ppt/slides/slide1.xml" Id="R8d63e684c1d8457f" /><Relationship Type="http://schemas.openxmlformats.org/officeDocument/2006/relationships/slide" Target="/ppt/slides/slide2.xml" Id="Rb714fdf0bfb84bd4" /><Relationship Type="http://schemas.openxmlformats.org/officeDocument/2006/relationships/slide" Target="/ppt/slides/slide3.xml" Id="Rf4171c2a128545f5" /><Relationship Type="http://schemas.openxmlformats.org/officeDocument/2006/relationships/slide" Target="/ppt/slides/slide4.xml" Id="R910338a82984433e" /><Relationship Type="http://schemas.openxmlformats.org/officeDocument/2006/relationships/slide" Target="/ppt/slides/slide5.xml" Id="R35811e6eac654e8a" /><Relationship Type="http://schemas.openxmlformats.org/officeDocument/2006/relationships/slide" Target="/ppt/slides/slide6.xml" Id="Rc602126a5ec2412c" /><Relationship Type="http://schemas.openxmlformats.org/officeDocument/2006/relationships/slide" Target="/ppt/slides/slide7.xml" Id="Re6775cb96c7a44ae" /><Relationship Type="http://schemas.openxmlformats.org/officeDocument/2006/relationships/slide" Target="/ppt/slides/slide8.xml" Id="R8fa2024ff3bc47f0" /><Relationship Type="http://schemas.openxmlformats.org/officeDocument/2006/relationships/slide" Target="/ppt/slides/slide9.xml" Id="R7d8a7f01d4884b3e" /><Relationship Type="http://schemas.openxmlformats.org/officeDocument/2006/relationships/slide" Target="/ppt/slides/slide10.xml" Id="R2c87131445b44cd8" /><Relationship Type="http://schemas.openxmlformats.org/officeDocument/2006/relationships/slide" Target="/ppt/slides/slide11.xml" Id="R6d047e9717c2471b" /><Relationship Type="http://schemas.openxmlformats.org/officeDocument/2006/relationships/slide" Target="/ppt/slides/slide12.xml" Id="R835c848a283244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079efc142a4e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4b5d0cec8647ed" /><Relationship Type="http://schemas.openxmlformats.org/officeDocument/2006/relationships/notesMaster" Target="/ppt/notesMasters/notesMaster1.xml" Id="Rca1041cf71254a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1cdf46557d4a25" /><Relationship Type="http://schemas.openxmlformats.org/officeDocument/2006/relationships/notesMaster" Target="/ppt/notesMasters/notesMaster1.xml" Id="Reeac8c8c121745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b6e84a6c044ba4" /><Relationship Type="http://schemas.openxmlformats.org/officeDocument/2006/relationships/notesMaster" Target="/ppt/notesMasters/notesMaster1.xml" Id="R1276c2b5385b49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4ba59eaa63485b" /><Relationship Type="http://schemas.openxmlformats.org/officeDocument/2006/relationships/notesMaster" Target="/ppt/notesMasters/notesMaster1.xml" Id="R2cac6287f26f44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fe617a9ac24548" /><Relationship Type="http://schemas.openxmlformats.org/officeDocument/2006/relationships/notesMaster" Target="/ppt/notesMasters/notesMaster1.xml" Id="R2e9213bca3ec40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28bb9ea6aa4eb7" /><Relationship Type="http://schemas.openxmlformats.org/officeDocument/2006/relationships/notesMaster" Target="/ppt/notesMasters/notesMaster1.xml" Id="R67344d8796604e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2e65edb094442a" /><Relationship Type="http://schemas.openxmlformats.org/officeDocument/2006/relationships/notesMaster" Target="/ppt/notesMasters/notesMaster1.xml" Id="R9f2f34df41914c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472f9c3f47434f" /><Relationship Type="http://schemas.openxmlformats.org/officeDocument/2006/relationships/notesMaster" Target="/ppt/notesMasters/notesMaster1.xml" Id="R316b85282d6740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5748c872ea46bb" /><Relationship Type="http://schemas.openxmlformats.org/officeDocument/2006/relationships/notesMaster" Target="/ppt/notesMasters/notesMaster1.xml" Id="Re1b7bb039bf64d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aad9ec9df843f6" /><Relationship Type="http://schemas.openxmlformats.org/officeDocument/2006/relationships/notesMaster" Target="/ppt/notesMasters/notesMaster1.xml" Id="Rc7d90bd7187648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2ea3286d814550" /><Relationship Type="http://schemas.openxmlformats.org/officeDocument/2006/relationships/notesMaster" Target="/ppt/notesMasters/notesMaster1.xml" Id="Ra5f0a33278b442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0935fe12f348e3" /><Relationship Type="http://schemas.openxmlformats.org/officeDocument/2006/relationships/notesMaster" Target="/ppt/notesMasters/notesMaster1.xml" Id="Rc28f8042a6fc47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b6d299bbf140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14a0e06edc490b" /><Relationship Type="http://schemas.openxmlformats.org/officeDocument/2006/relationships/slideLayout" Target="/ppt/slideLayouts/slideLayout1.xml" Id="R0796b6bf0c4849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96b6bf0c4849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eb6d11b33447f" /><Relationship Type="http://schemas.openxmlformats.org/officeDocument/2006/relationships/notesSlide" Target="/ppt/notesSlides/notesSlide1.xml" Id="R3dd35c28d06445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6ab34ece84336" /><Relationship Type="http://schemas.openxmlformats.org/officeDocument/2006/relationships/notesSlide" Target="/ppt/notesSlides/notesSlide2.xml" Id="R814cc27f702941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0ac9c49644cb9" /><Relationship Type="http://schemas.openxmlformats.org/officeDocument/2006/relationships/notesSlide" Target="/ppt/notesSlides/notesSlide3.xml" Id="R4a6956c9c8e543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0da46f5b64953" /><Relationship Type="http://schemas.openxmlformats.org/officeDocument/2006/relationships/notesSlide" Target="/ppt/notesSlides/notesSlide4.xml" Id="R56327e56a7444d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6f49d11c74b94" /><Relationship Type="http://schemas.openxmlformats.org/officeDocument/2006/relationships/notesSlide" Target="/ppt/notesSlides/notesSlide5.xml" Id="Rc4a46021821b45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fd5b7f308451c" /><Relationship Type="http://schemas.openxmlformats.org/officeDocument/2006/relationships/notesSlide" Target="/ppt/notesSlides/notesSlide6.xml" Id="Rd9755ea7eb044a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fba1c4fe64896" /><Relationship Type="http://schemas.openxmlformats.org/officeDocument/2006/relationships/notesSlide" Target="/ppt/notesSlides/notesSlide7.xml" Id="Red4eaca1d2b341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d38d6dbbe438f" /><Relationship Type="http://schemas.openxmlformats.org/officeDocument/2006/relationships/notesSlide" Target="/ppt/notesSlides/notesSlide8.xml" Id="R99bf65702ea44d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2c43f00d047af" /><Relationship Type="http://schemas.openxmlformats.org/officeDocument/2006/relationships/notesSlide" Target="/ppt/notesSlides/notesSlide9.xml" Id="Rf4de2804735e41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d5cc8f3af446d" /><Relationship Type="http://schemas.openxmlformats.org/officeDocument/2006/relationships/notesSlide" Target="/ppt/notesSlides/notesSlide10.xml" Id="Re4307c1d9da046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fe951ad9b4941" /><Relationship Type="http://schemas.openxmlformats.org/officeDocument/2006/relationships/notesSlide" Target="/ppt/notesSlides/notesSlide11.xml" Id="R979dbd940e0d42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a06f939354cc3" /><Relationship Type="http://schemas.openxmlformats.org/officeDocument/2006/relationships/notesSlide" Target="/ppt/notesSlides/notesSlide12.xml" Id="R088e965571d54d04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DFE"/>
            </a:gs>
            <a:gs pos="52000">
              <a:srgbClr val="FFF4F8"/>
            </a:gs>
            <a:gs pos="100000">
              <a:srgbClr val="FFEFF5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C921F2-C2AB-45E6-B351-CF7DC5F5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4300"/>
            <a:ext cx="2381250" cy="1809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DDE8">
                  <a:alpha val="95000"/>
                </a:srgbClr>
              </a:gs>
              <a:gs pos="55000">
                <a:srgbClr val="FFDDE8">
                  <a:alpha val="25000"/>
                </a:srgbClr>
              </a:gs>
              <a:gs pos="100000">
                <a:srgbClr val="FFDDE8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598C1-1692-44DE-8FB6-7AB0095B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953000"/>
            <a:ext cx="2095500" cy="1428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E8F0">
                  <a:alpha val="90000"/>
                </a:srgbClr>
              </a:gs>
              <a:gs pos="55000">
                <a:srgbClr val="FFE8F0">
                  <a:alpha val="28000"/>
                </a:srgbClr>
              </a:gs>
              <a:gs pos="100000">
                <a:srgbClr val="FFE8F0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EAD41-8EEC-4F68-B59F-2B343745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19700"/>
            <a:ext cx="1333500" cy="9144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>
                  <a:alpha val="60000"/>
                </a:srgbClr>
              </a:gs>
              <a:gs pos="100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eyebrow-1">
            <a:extLst xmlns:a="http://schemas.openxmlformats.org/drawingml/2006/main">
              <a:ext uri="{FF2B5EF4-FFF2-40B4-BE49-F238E27FC236}">
                <a16:creationId xmlns:a16="http://schemas.microsoft.com/office/drawing/2014/main" id="{DDC2A72D-A42B-42BC-B542-B0E3CD6A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MENTAL WELLBEING SHARE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77224-64AF-4BB4-B090-CDC8DBB2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480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1">
            <a:extLst xmlns:a="http://schemas.openxmlformats.org/drawingml/2006/main">
              <a:ext uri="{FF2B5EF4-FFF2-40B4-BE49-F238E27FC236}">
                <a16:creationId xmlns:a16="http://schemas.microsoft.com/office/drawing/2014/main" id="{1D309B51-D69D-4727-989E-BA483D5C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BF423-9752-45AF-9C5D-6140EB2E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28700"/>
            <a:ext cx="3048000" cy="304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/>
              </a:gs>
              <a:gs pos="48000">
                <a:srgbClr val="FFF3F7"/>
              </a:gs>
              <a:gs pos="100000">
                <a:srgbClr val="FFD8E5"/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3C9CB-F91A-4B8F-AD13-881E03BF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76400"/>
            <a:ext cx="2095500" cy="1714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9525">
            <a:solidFill>
              <a:srgbClr val="FFD1DC"/>
            </a:solidFill>
            <a:prstDash val="solid"/>
          </a:ln>
        </p:spPr>
      </p:sp>
      <p:sp>
        <p:nvSpPr>
          <p:cNvPr id="9" name="cover-panel-title">
            <a:extLst xmlns:a="http://schemas.openxmlformats.org/drawingml/2006/main">
              <a:ext uri="{FF2B5EF4-FFF2-40B4-BE49-F238E27FC236}">
                <a16:creationId xmlns:a16="http://schemas.microsoft.com/office/drawing/2014/main" id="{DABB39B7-1B55-4791-A172-AE789301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142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65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rPr>
              <a:t>慢一点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65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rPr>
              <a:t>少一点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65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rPr>
              <a:t>深一点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65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rPr>
              <a:t>稳一点</a:t>
            </a:r>
          </a:p>
        </p:txBody>
      </p:sp>
      <p:sp>
        <p:nvSpPr>
          <p:cNvPr id="10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37CC454-0EE9-46CA-8051-520A1FDA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571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9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告别焦虑，拥抱当下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9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如何避免 FOMO</a:t>
            </a:r>
          </a:p>
        </p:txBody>
      </p:sp>
      <p:sp>
        <p:nvSpPr>
          <p:cNvPr id="11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780765A-9CE0-41ED-A7BC-7EABD32A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从“害怕错过”到“享受当下”的心理指南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0F4B1-24C2-404B-9C71-1E0C6B8C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3810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cover-note">
            <a:extLst xmlns:a="http://schemas.openxmlformats.org/drawingml/2006/main">
              <a:ext uri="{FF2B5EF4-FFF2-40B4-BE49-F238E27FC236}">
                <a16:creationId xmlns:a16="http://schemas.microsoft.com/office/drawing/2014/main" id="{802FEEDC-46B5-4F39-825F-76C5CA90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rPr>
              <a:t>不是错过太多让你焦虑，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rPr>
              <a:t>而是把别人的高光误当成自己的落后。</a:t>
            </a:r>
          </a:p>
        </p:txBody>
      </p:sp>
    </p:spTree>
    <p:extLst>
      <p:ext uri="{BB962C8B-B14F-4D97-AF65-F5344CB8AC3E}">
        <p14:creationId xmlns:p14="http://schemas.microsoft.com/office/powerpoint/2010/main" val="57101770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DFE"/>
            </a:gs>
            <a:gs pos="52000">
              <a:srgbClr val="FFF4F8"/>
            </a:gs>
            <a:gs pos="100000">
              <a:srgbClr val="FFEFF5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5498DB-EAC7-4511-A6E9-EDB797EE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4300"/>
            <a:ext cx="2381250" cy="1809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DDE8">
                  <a:alpha val="95000"/>
                </a:srgbClr>
              </a:gs>
              <a:gs pos="55000">
                <a:srgbClr val="FFDDE8">
                  <a:alpha val="25000"/>
                </a:srgbClr>
              </a:gs>
              <a:gs pos="100000">
                <a:srgbClr val="FFDDE8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B1011-294E-4515-971A-C661AC75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953000"/>
            <a:ext cx="2095500" cy="1428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E8F0">
                  <a:alpha val="90000"/>
                </a:srgbClr>
              </a:gs>
              <a:gs pos="55000">
                <a:srgbClr val="FFE8F0">
                  <a:alpha val="28000"/>
                </a:srgbClr>
              </a:gs>
              <a:gs pos="100000">
                <a:srgbClr val="FFE8F0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96E00-697C-4C1A-9D78-7F33CF66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19700"/>
            <a:ext cx="1333500" cy="9144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>
                  <a:alpha val="60000"/>
                </a:srgbClr>
              </a:gs>
              <a:gs pos="100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eyebrow-2">
            <a:extLst xmlns:a="http://schemas.openxmlformats.org/drawingml/2006/main">
              <a:ext uri="{FF2B5EF4-FFF2-40B4-BE49-F238E27FC236}">
                <a16:creationId xmlns:a16="http://schemas.microsoft.com/office/drawing/2014/main" id="{0221378C-0069-4361-84E3-BE4FD38A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ANTI FOMO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889A0-D8CD-47BE-938E-154370FF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480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585A84CA-8880-46D2-8184-A0BB2573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title-什么是 FOMO？">
            <a:extLst xmlns:a="http://schemas.openxmlformats.org/drawingml/2006/main">
              <a:ext uri="{FF2B5EF4-FFF2-40B4-BE49-F238E27FC236}">
                <a16:creationId xmlns:a16="http://schemas.microsoft.com/office/drawing/2014/main" id="{AC1C49D6-DBD8-46AB-B893-B53F384A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什么是 FOMO？</a:t>
            </a:r>
          </a:p>
        </p:txBody>
      </p:sp>
      <p:sp>
        <p:nvSpPr>
          <p:cNvPr id="8" name="subtitle-什么是 FOMO？">
            <a:extLst xmlns:a="http://schemas.openxmlformats.org/drawingml/2006/main">
              <a:ext uri="{FF2B5EF4-FFF2-40B4-BE49-F238E27FC236}">
                <a16:creationId xmlns:a16="http://schemas.microsoft.com/office/drawing/2014/main" id="{802589F4-3EA0-42B4-937B-1963FB72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01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FOMO 指因害怕错过他人正在经历的美好体验，而产生的焦虑与不安。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64630-30B3-43AA-A8C3-385254E4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4762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def-quote">
            <a:extLst xmlns:a="http://schemas.openxmlformats.org/drawingml/2006/main">
              <a:ext uri="{FF2B5EF4-FFF2-40B4-BE49-F238E27FC236}">
                <a16:creationId xmlns:a16="http://schemas.microsoft.com/office/drawing/2014/main" id="{3B5CE859-1B4E-40C2-8BF7-6BE6CF7F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33600"/>
            <a:ext cx="4114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800" b="0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它不只是“想参与”，而是当你看见别人的动态、消息、机会时，心里立刻冒出“我是不是落下了”的紧张感。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2662B-FC27-4D14-8CB5-749AAA69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9715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9B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核心定义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DB38B4-246A-4A5C-B049-C9A8D425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85900"/>
            <a:ext cx="2857500" cy="38100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7FA"/>
          </a:solidFill>
          <a:ln xmlns:a="http://schemas.openxmlformats.org/drawingml/2006/main" w="19050">
            <a:solidFill>
              <a:srgbClr val="F0CA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51370-99CA-45B8-8E41-DFD1A503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76400"/>
            <a:ext cx="742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5A698F-6DE6-4734-BDFC-7C9EA480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95500"/>
            <a:ext cx="2286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cue-title-0">
            <a:extLst xmlns:a="http://schemas.openxmlformats.org/drawingml/2006/main">
              <a:ext uri="{FF2B5EF4-FFF2-40B4-BE49-F238E27FC236}">
                <a16:creationId xmlns:a16="http://schemas.microsoft.com/office/drawing/2014/main" id="{206FEE50-0B36-4FE5-9590-4614844D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不断刷社交媒体</a:t>
            </a:r>
          </a:p>
        </p:txBody>
      </p:sp>
      <p:sp>
        <p:nvSpPr>
          <p:cNvPr id="16" name="cue-body-0">
            <a:extLst xmlns:a="http://schemas.openxmlformats.org/drawingml/2006/main">
              <a:ext uri="{FF2B5EF4-FFF2-40B4-BE49-F238E27FC236}">
                <a16:creationId xmlns:a16="http://schemas.microsoft.com/office/drawing/2014/main" id="{0DE67893-2561-4D9B-B622-B5D5C12B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担心别人正在经历更精彩的事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5D5F1-7A4C-431F-AF65-4CBB9CE0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09900"/>
            <a:ext cx="2286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1F6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cue-title-1">
            <a:extLst xmlns:a="http://schemas.openxmlformats.org/drawingml/2006/main">
              <a:ext uri="{FF2B5EF4-FFF2-40B4-BE49-F238E27FC236}">
                <a16:creationId xmlns:a16="http://schemas.microsoft.com/office/drawing/2014/main" id="{20ACEE16-1556-4CA4-B917-5D933F04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81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害怕被排除在外</a:t>
            </a:r>
          </a:p>
        </p:txBody>
      </p:sp>
      <p:sp>
        <p:nvSpPr>
          <p:cNvPr id="19" name="cue-body-1">
            <a:extLst xmlns:a="http://schemas.openxmlformats.org/drawingml/2006/main">
              <a:ext uri="{FF2B5EF4-FFF2-40B4-BE49-F238E27FC236}">
                <a16:creationId xmlns:a16="http://schemas.microsoft.com/office/drawing/2014/main" id="{C021ED6F-88F6-4932-AA1B-6852B613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38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不想错过群体中的任何话题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EB2E79-0AD8-4E7B-B1B9-F2EFCBC0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24300"/>
            <a:ext cx="2286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cue-title-2">
            <a:extLst xmlns:a="http://schemas.openxmlformats.org/drawingml/2006/main">
              <a:ext uri="{FF2B5EF4-FFF2-40B4-BE49-F238E27FC236}">
                <a16:creationId xmlns:a16="http://schemas.microsoft.com/office/drawing/2014/main" id="{6BBFF599-7CC9-42A6-A8E9-95DF3D34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过度比较与冲动跟进</a:t>
            </a:r>
          </a:p>
        </p:txBody>
      </p:sp>
      <p:sp>
        <p:nvSpPr>
          <p:cNvPr id="22" name="cue-body-2">
            <a:extLst xmlns:a="http://schemas.openxmlformats.org/drawingml/2006/main">
              <a:ext uri="{FF2B5EF4-FFF2-40B4-BE49-F238E27FC236}">
                <a16:creationId xmlns:a16="http://schemas.microsoft.com/office/drawing/2014/main" id="{F6060C28-2DD8-4981-B383-3FE4C3A4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529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看到别人在做就立刻想参与</a:t>
            </a:r>
          </a:p>
        </p:txBody>
      </p:sp>
    </p:spTree>
    <p:extLst>
      <p:ext uri="{BB962C8B-B14F-4D97-AF65-F5344CB8AC3E}">
        <p14:creationId xmlns:p14="http://schemas.microsoft.com/office/powerpoint/2010/main" val="553506994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DFE"/>
            </a:gs>
            <a:gs pos="52000">
              <a:srgbClr val="FFF4F8"/>
            </a:gs>
            <a:gs pos="100000">
              <a:srgbClr val="FFEFF5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9FD303-F4F3-49B6-9406-4212B5D5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4300"/>
            <a:ext cx="2381250" cy="1809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DDE8">
                  <a:alpha val="95000"/>
                </a:srgbClr>
              </a:gs>
              <a:gs pos="55000">
                <a:srgbClr val="FFDDE8">
                  <a:alpha val="25000"/>
                </a:srgbClr>
              </a:gs>
              <a:gs pos="100000">
                <a:srgbClr val="FFDDE8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7AFBA-FC26-417F-A90B-F0CE6DED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953000"/>
            <a:ext cx="2095500" cy="1428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E8F0">
                  <a:alpha val="90000"/>
                </a:srgbClr>
              </a:gs>
              <a:gs pos="55000">
                <a:srgbClr val="FFE8F0">
                  <a:alpha val="28000"/>
                </a:srgbClr>
              </a:gs>
              <a:gs pos="100000">
                <a:srgbClr val="FFE8F0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225FF-0586-49BE-8E56-AE278040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19700"/>
            <a:ext cx="1333500" cy="9144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>
                  <a:alpha val="60000"/>
                </a:srgbClr>
              </a:gs>
              <a:gs pos="100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eyebrow-3">
            <a:extLst xmlns:a="http://schemas.openxmlformats.org/drawingml/2006/main">
              <a:ext uri="{FF2B5EF4-FFF2-40B4-BE49-F238E27FC236}">
                <a16:creationId xmlns:a16="http://schemas.microsoft.com/office/drawing/2014/main" id="{12FED185-E5EC-47D4-B208-8705CE4A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ANTI FOMO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C7A84-2A97-45B8-92EC-BC0FBD10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480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EB86E54D-734B-487E-836A-EA393D20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title-FOMO 会在比较、奖励和偏差里自我强化">
            <a:extLst xmlns:a="http://schemas.openxmlformats.org/drawingml/2006/main">
              <a:ext uri="{FF2B5EF4-FFF2-40B4-BE49-F238E27FC236}">
                <a16:creationId xmlns:a16="http://schemas.microsoft.com/office/drawing/2014/main" id="{5DE58E07-3F12-4FED-A0E7-AF9ED774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FOMO 会在比较、奖励和偏差里自我强化</a:t>
            </a:r>
          </a:p>
        </p:txBody>
      </p:sp>
      <p:sp>
        <p:nvSpPr>
          <p:cNvPr id="8" name="subtitle-FOMO 会在比较、奖励和偏差里自我强化">
            <a:extLst xmlns:a="http://schemas.openxmlformats.org/drawingml/2006/main">
              <a:ext uri="{FF2B5EF4-FFF2-40B4-BE49-F238E27FC236}">
                <a16:creationId xmlns:a16="http://schemas.microsoft.com/office/drawing/2014/main" id="{138F7408-AB13-44ED-AB2C-FA856FE3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01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当注意力被高光时刻、即时反馈和想象中的“别人更好”同时牵引时，焦虑就会滚雪球。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F4077-975E-47FA-A532-06CA4E7B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3048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53065-BE1B-41FB-8A53-B5AD8BE0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9B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mech-title-0">
            <a:extLst xmlns:a="http://schemas.openxmlformats.org/drawingml/2006/main">
              <a:ext uri="{FF2B5EF4-FFF2-40B4-BE49-F238E27FC236}">
                <a16:creationId xmlns:a16="http://schemas.microsoft.com/office/drawing/2014/main" id="{B1B1A45E-B275-402B-AB0B-3C9830BE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社会比较</a:t>
            </a:r>
          </a:p>
        </p:txBody>
      </p:sp>
      <p:sp>
        <p:nvSpPr>
          <p:cNvPr id="12" name="mech-body-0">
            <a:extLst xmlns:a="http://schemas.openxmlformats.org/drawingml/2006/main">
              <a:ext uri="{FF2B5EF4-FFF2-40B4-BE49-F238E27FC236}">
                <a16:creationId xmlns:a16="http://schemas.microsoft.com/office/drawing/2014/main" id="{01F1F1D6-DC21-403B-9B4C-CBC0EF0D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人会本能地把自己的日常，拿去和他人精修后的高光片段对比。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61A49-B755-4F21-AEC8-AD128618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14550"/>
            <a:ext cx="3048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2F7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D421F-3DD4-4485-BAB2-D3CD7C47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9A8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mech-title-1">
            <a:extLst xmlns:a="http://schemas.openxmlformats.org/drawingml/2006/main">
              <a:ext uri="{FF2B5EF4-FFF2-40B4-BE49-F238E27FC236}">
                <a16:creationId xmlns:a16="http://schemas.microsoft.com/office/drawing/2014/main" id="{7DDF58D8-B4ED-45F4-A520-21F933FF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19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多巴胺陷阱</a:t>
            </a:r>
          </a:p>
        </p:txBody>
      </p:sp>
      <p:sp>
        <p:nvSpPr>
          <p:cNvPr id="16" name="mech-body-1">
            <a:extLst xmlns:a="http://schemas.openxmlformats.org/drawingml/2006/main">
              <a:ext uri="{FF2B5EF4-FFF2-40B4-BE49-F238E27FC236}">
                <a16:creationId xmlns:a16="http://schemas.microsoft.com/office/drawing/2014/main" id="{FBBB2950-CDA7-4366-B881-073E95F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0040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点赞、提醒、刷新后的新内容，会把大脑拉进“再看一条”的奖励回路。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AFCC1D-C1AE-4551-AA84-E19339DF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14550"/>
            <a:ext cx="3048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3DB354-C1E5-4533-9BAD-9FF21EC0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43150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9B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mech-title-2">
            <a:extLst xmlns:a="http://schemas.openxmlformats.org/drawingml/2006/main">
              <a:ext uri="{FF2B5EF4-FFF2-40B4-BE49-F238E27FC236}">
                <a16:creationId xmlns:a16="http://schemas.microsoft.com/office/drawing/2014/main" id="{A41A5A0A-AFA5-4DF6-B741-3BE8FE4C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19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认知偏差</a:t>
            </a:r>
          </a:p>
        </p:txBody>
      </p:sp>
      <p:sp>
        <p:nvSpPr>
          <p:cNvPr id="20" name="mech-body-2">
            <a:extLst xmlns:a="http://schemas.openxmlformats.org/drawingml/2006/main">
              <a:ext uri="{FF2B5EF4-FFF2-40B4-BE49-F238E27FC236}">
                <a16:creationId xmlns:a16="http://schemas.microsoft.com/office/drawing/2014/main" id="{9C4673C6-55EA-4CF8-8AC6-D74A17F5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0040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我们常高估别人生活的精彩程度，也低估自己当下的真实价值。</a:t>
            </a:r>
          </a:p>
        </p:txBody>
      </p:sp>
      <p:sp>
        <p:nvSpPr>
          <p:cNvPr id="21" name="arrow-0">
            <a:extLst xmlns:a="http://schemas.openxmlformats.org/drawingml/2006/main">
              <a:ext uri="{FF2B5EF4-FFF2-40B4-BE49-F238E27FC236}">
                <a16:creationId xmlns:a16="http://schemas.microsoft.com/office/drawing/2014/main" id="{9271A3CD-6E6B-4056-949F-78BD24F3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FF69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69B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arrow-1">
            <a:extLst xmlns:a="http://schemas.openxmlformats.org/drawingml/2006/main">
              <a:ext uri="{FF2B5EF4-FFF2-40B4-BE49-F238E27FC236}">
                <a16:creationId xmlns:a16="http://schemas.microsoft.com/office/drawing/2014/main" id="{5DE1695C-F2C9-4C3C-97D4-3BA563F4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FF69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69B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078016943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DFE"/>
            </a:gs>
            <a:gs pos="52000">
              <a:srgbClr val="FFF4F8"/>
            </a:gs>
            <a:gs pos="100000">
              <a:srgbClr val="FFEFF5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F38953-AA5E-47C0-B232-021529E5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4300"/>
            <a:ext cx="2381250" cy="1809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DDE8">
                  <a:alpha val="95000"/>
                </a:srgbClr>
              </a:gs>
              <a:gs pos="55000">
                <a:srgbClr val="FFDDE8">
                  <a:alpha val="25000"/>
                </a:srgbClr>
              </a:gs>
              <a:gs pos="100000">
                <a:srgbClr val="FFDDE8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07239-2B2C-4D82-A76B-4E78DEF8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953000"/>
            <a:ext cx="2095500" cy="1428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E8F0">
                  <a:alpha val="90000"/>
                </a:srgbClr>
              </a:gs>
              <a:gs pos="55000">
                <a:srgbClr val="FFE8F0">
                  <a:alpha val="28000"/>
                </a:srgbClr>
              </a:gs>
              <a:gs pos="100000">
                <a:srgbClr val="FFE8F0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DA797-1D80-4D52-BAC2-54EDAF6E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19700"/>
            <a:ext cx="1333500" cy="9144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>
                  <a:alpha val="60000"/>
                </a:srgbClr>
              </a:gs>
              <a:gs pos="100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eyebrow-4">
            <a:extLst xmlns:a="http://schemas.openxmlformats.org/drawingml/2006/main">
              <a:ext uri="{FF2B5EF4-FFF2-40B4-BE49-F238E27FC236}">
                <a16:creationId xmlns:a16="http://schemas.microsoft.com/office/drawing/2014/main" id="{118265D5-2CA0-4BB9-9D53-61189980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ANTI FOMO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EB597-428A-4558-AED6-A459C62B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480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07D6EFA7-089E-4C48-A773-5C192FC4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title-FOMO 偷走了什么？">
            <a:extLst xmlns:a="http://schemas.openxmlformats.org/drawingml/2006/main">
              <a:ext uri="{FF2B5EF4-FFF2-40B4-BE49-F238E27FC236}">
                <a16:creationId xmlns:a16="http://schemas.microsoft.com/office/drawing/2014/main" id="{992C24B6-05FF-4A36-B578-283C3EB8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FOMO 偷走了什么？</a:t>
            </a:r>
          </a:p>
        </p:txBody>
      </p:sp>
      <p:sp>
        <p:nvSpPr>
          <p:cNvPr id="8" name="subtitle-FOMO 偷走了什么？">
            <a:extLst xmlns:a="http://schemas.openxmlformats.org/drawingml/2006/main">
              <a:ext uri="{FF2B5EF4-FFF2-40B4-BE49-F238E27FC236}">
                <a16:creationId xmlns:a16="http://schemas.microsoft.com/office/drawing/2014/main" id="{33127032-2948-489B-B662-BA7DCFCB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01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它的代价不只是一阵不安，而是会在情绪、行为和生活选择上持续泄漏能量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A6D63-B5FB-4ABB-9F0B-3BA72B2D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3048000" cy="30099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6F8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impact-title-0">
            <a:extLst xmlns:a="http://schemas.openxmlformats.org/drawingml/2006/main">
              <a:ext uri="{FF2B5EF4-FFF2-40B4-BE49-F238E27FC236}">
                <a16:creationId xmlns:a16="http://schemas.microsoft.com/office/drawing/2014/main" id="{C3AF482D-7CA6-4D5A-9A68-AD75FA0A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情绪层面</a:t>
            </a:r>
          </a:p>
        </p:txBody>
      </p:sp>
      <p:sp>
        <p:nvSpPr>
          <p:cNvPr id="11" name="impact-bullets-0">
            <a:extLst xmlns:a="http://schemas.openxmlformats.org/drawingml/2006/main">
              <a:ext uri="{FF2B5EF4-FFF2-40B4-BE49-F238E27FC236}">
                <a16:creationId xmlns:a16="http://schemas.microsoft.com/office/drawing/2014/main" id="{68905B40-9C5B-4255-B810-4B356E43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2628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marL="24" indent="-12">
              <a:lnSpc>
                <a:spcPct val="122000"/>
              </a:lnSpc>
              <a:spcAft>
                <a:spcPts val="12"/>
              </a:spcAft>
              <a:buNone/>
              <a:defRPr sz="1350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焦虑与紧绷</a:t>
            </a:r>
            <a:r>
              <a:rPr sz="1350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：总担心自己落后于人</a:t>
            </a:r>
          </a:p>
          <a:p xmlns:a="http://schemas.openxmlformats.org/drawingml/2006/main">
            <a:pPr marL="24" indent="-12">
              <a:lnSpc>
                <a:spcPct val="122000"/>
              </a:lnSpc>
              <a:spcAft>
                <a:spcPts val="12"/>
              </a:spcAft>
              <a:buNone/>
              <a:defRPr sz="1350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低自尊</a:t>
            </a:r>
            <a:r>
              <a:rPr sz="1350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：别人越亮眼，越觉得自己不够好</a:t>
            </a:r>
          </a:p>
          <a:p xmlns:a="http://schemas.openxmlformats.org/drawingml/2006/main">
            <a:pPr marL="24" indent="-12">
              <a:lnSpc>
                <a:spcPct val="122000"/>
              </a:lnSpc>
              <a:spcAft>
                <a:spcPts val="12"/>
              </a:spcAft>
              <a:buNone/>
              <a:defRPr sz="1350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孤独感</a:t>
            </a:r>
            <a:r>
              <a:rPr sz="1350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：明明在看很多动态，却更像旁观者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6A16B-F399-4D91-AF65-26CD7E31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57400"/>
            <a:ext cx="3048000" cy="30099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0F5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impact-title-1">
            <a:extLst xmlns:a="http://schemas.openxmlformats.org/drawingml/2006/main">
              <a:ext uri="{FF2B5EF4-FFF2-40B4-BE49-F238E27FC236}">
                <a16:creationId xmlns:a16="http://schemas.microsoft.com/office/drawing/2014/main" id="{0B761FFF-F570-49A2-A8B1-ABDCE84B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43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行为层面</a:t>
            </a:r>
          </a:p>
        </p:txBody>
      </p:sp>
      <p:sp>
        <p:nvSpPr>
          <p:cNvPr id="14" name="impact-bullets-1">
            <a:extLst xmlns:a="http://schemas.openxmlformats.org/drawingml/2006/main">
              <a:ext uri="{FF2B5EF4-FFF2-40B4-BE49-F238E27FC236}">
                <a16:creationId xmlns:a16="http://schemas.microsoft.com/office/drawing/2014/main" id="{6BEDFF4A-0047-4A66-AA7D-4E4E41C1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2628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marL="24" indent="-12">
              <a:lnSpc>
                <a:spcPct val="122000"/>
              </a:lnSpc>
              <a:spcAft>
                <a:spcPts val="12"/>
              </a:spcAft>
              <a:buNone/>
              <a:defRPr sz="1350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冲动消费或投资</a:t>
            </a:r>
            <a:r>
              <a:rPr sz="1350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：为了“跟上”而仓促决定</a:t>
            </a:r>
          </a:p>
          <a:p xmlns:a="http://schemas.openxmlformats.org/drawingml/2006/main">
            <a:pPr marL="24" indent="-12">
              <a:lnSpc>
                <a:spcPct val="122000"/>
              </a:lnSpc>
              <a:spcAft>
                <a:spcPts val="12"/>
              </a:spcAft>
              <a:buNone/>
              <a:defRPr sz="1350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睡眠与注意力受损</a:t>
            </a:r>
            <a:r>
              <a:rPr sz="1350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：停不下来的深夜刷新</a:t>
            </a:r>
          </a:p>
          <a:p xmlns:a="http://schemas.openxmlformats.org/drawingml/2006/main">
            <a:pPr marL="24" indent="-12">
              <a:lnSpc>
                <a:spcPct val="122000"/>
              </a:lnSpc>
              <a:spcAft>
                <a:spcPts val="12"/>
              </a:spcAft>
              <a:buNone/>
              <a:defRPr sz="1350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社交回避</a:t>
            </a:r>
            <a:r>
              <a:rPr sz="1350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：害怕比较后反而更不想见人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CBF16-F984-4EC7-B287-1B0B4F72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57400"/>
            <a:ext cx="3048000" cy="30099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7FB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impact-title-2">
            <a:extLst xmlns:a="http://schemas.openxmlformats.org/drawingml/2006/main">
              <a:ext uri="{FF2B5EF4-FFF2-40B4-BE49-F238E27FC236}">
                <a16:creationId xmlns:a16="http://schemas.microsoft.com/office/drawing/2014/main" id="{F8F09F3A-0512-4B2D-849E-0E593645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43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生活层面</a:t>
            </a:r>
          </a:p>
        </p:txBody>
      </p:sp>
      <p:sp>
        <p:nvSpPr>
          <p:cNvPr id="17" name="impact-bullets-2">
            <a:extLst xmlns:a="http://schemas.openxmlformats.org/drawingml/2006/main">
              <a:ext uri="{FF2B5EF4-FFF2-40B4-BE49-F238E27FC236}">
                <a16:creationId xmlns:a16="http://schemas.microsoft.com/office/drawing/2014/main" id="{129BE04A-17BC-4D9B-9C61-656FFFA3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81300"/>
            <a:ext cx="2628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marL="24" indent="-12">
              <a:lnSpc>
                <a:spcPct val="122000"/>
              </a:lnSpc>
              <a:spcAft>
                <a:spcPts val="12"/>
              </a:spcAft>
              <a:buNone/>
              <a:defRPr sz="1350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忽视当下美好</a:t>
            </a:r>
            <a:r>
              <a:rPr sz="1350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：眼前的人和事不断被打断</a:t>
            </a:r>
          </a:p>
          <a:p xmlns:a="http://schemas.openxmlformats.org/drawingml/2006/main">
            <a:pPr marL="24" indent="-12">
              <a:lnSpc>
                <a:spcPct val="122000"/>
              </a:lnSpc>
              <a:spcAft>
                <a:spcPts val="12"/>
              </a:spcAft>
              <a:buNone/>
              <a:defRPr sz="1350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偏离长期目标</a:t>
            </a:r>
            <a:r>
              <a:rPr sz="1350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：把时间花在追热点而非积累</a:t>
            </a:r>
          </a:p>
          <a:p xmlns:a="http://schemas.openxmlformats.org/drawingml/2006/main">
            <a:pPr marL="24" indent="-12">
              <a:lnSpc>
                <a:spcPct val="122000"/>
              </a:lnSpc>
              <a:spcAft>
                <a:spcPts val="12"/>
              </a:spcAft>
              <a:buNone/>
              <a:defRPr sz="1350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关系表面化</a:t>
            </a:r>
            <a:r>
              <a:rPr sz="1350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：互动变多了，连接却变浅了</a:t>
            </a:r>
          </a:p>
        </p:txBody>
      </p:sp>
    </p:spTree>
    <p:extLst>
      <p:ext uri="{BB962C8B-B14F-4D97-AF65-F5344CB8AC3E}">
        <p14:creationId xmlns:p14="http://schemas.microsoft.com/office/powerpoint/2010/main" val="267264681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DFE"/>
            </a:gs>
            <a:gs pos="52000">
              <a:srgbClr val="FFF4F8"/>
            </a:gs>
            <a:gs pos="100000">
              <a:srgbClr val="FFEFF5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9348CB-A768-4D1D-A78E-3A47585C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4300"/>
            <a:ext cx="2381250" cy="1809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DDE8">
                  <a:alpha val="95000"/>
                </a:srgbClr>
              </a:gs>
              <a:gs pos="55000">
                <a:srgbClr val="FFDDE8">
                  <a:alpha val="25000"/>
                </a:srgbClr>
              </a:gs>
              <a:gs pos="100000">
                <a:srgbClr val="FFDDE8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DF945-7F71-488E-BD5D-C2AAA561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953000"/>
            <a:ext cx="2095500" cy="1428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E8F0">
                  <a:alpha val="90000"/>
                </a:srgbClr>
              </a:gs>
              <a:gs pos="55000">
                <a:srgbClr val="FFE8F0">
                  <a:alpha val="28000"/>
                </a:srgbClr>
              </a:gs>
              <a:gs pos="100000">
                <a:srgbClr val="FFE8F0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795EA-E29A-4FCC-BBD0-9930DF96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19700"/>
            <a:ext cx="1333500" cy="9144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>
                  <a:alpha val="60000"/>
                </a:srgbClr>
              </a:gs>
              <a:gs pos="100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eyebrow-5">
            <a:extLst xmlns:a="http://schemas.openxmlformats.org/drawingml/2006/main">
              <a:ext uri="{FF2B5EF4-FFF2-40B4-BE49-F238E27FC236}">
                <a16:creationId xmlns:a16="http://schemas.microsoft.com/office/drawing/2014/main" id="{95243772-172A-4FFD-8B84-B8CE17E2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ANTI FOMO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6F0A1-6A59-4943-BDCF-4194CD1B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480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CDE0E374-72E1-4092-9662-24F0D034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title-策略一：先改念头，再做选择">
            <a:extLst xmlns:a="http://schemas.openxmlformats.org/drawingml/2006/main">
              <a:ext uri="{FF2B5EF4-FFF2-40B4-BE49-F238E27FC236}">
                <a16:creationId xmlns:a16="http://schemas.microsoft.com/office/drawing/2014/main" id="{403277BF-EE4E-4262-885E-6CD96790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策略一：先改念头，再做选择</a:t>
            </a:r>
          </a:p>
        </p:txBody>
      </p:sp>
      <p:sp>
        <p:nvSpPr>
          <p:cNvPr id="8" name="subtitle-策略一：先改念头，再做选择">
            <a:extLst xmlns:a="http://schemas.openxmlformats.org/drawingml/2006/main">
              <a:ext uri="{FF2B5EF4-FFF2-40B4-BE49-F238E27FC236}">
                <a16:creationId xmlns:a16="http://schemas.microsoft.com/office/drawing/2014/main" id="{9976F5C4-3C1E-4053-9047-7D1A7AC4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01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认知重构的目标不是压抑欲望，而是看清它是否真的值得你投入时间、金钱和情绪。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F5EF8-3CB7-405F-8897-90462989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3524250" cy="30099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1F6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s1-quote">
            <a:extLst xmlns:a="http://schemas.openxmlformats.org/drawingml/2006/main">
              <a:ext uri="{FF2B5EF4-FFF2-40B4-BE49-F238E27FC236}">
                <a16:creationId xmlns:a16="http://schemas.microsoft.com/office/drawing/2014/main" id="{7B4544B9-5B1F-49D2-AF00-6F049600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14600"/>
            <a:ext cx="285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rPr>
              <a:t>不是每个机会都值得追。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rPr>
              <a:t>错过，本来就是生活的常态。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53AD68-A11A-4D4E-A46F-1CA286B7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24050"/>
            <a:ext cx="59436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480B1-9171-4B97-89DF-4EB23472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9A8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s1-title-0">
            <a:extLst xmlns:a="http://schemas.openxmlformats.org/drawingml/2006/main">
              <a:ext uri="{FF2B5EF4-FFF2-40B4-BE49-F238E27FC236}">
                <a16:creationId xmlns:a16="http://schemas.microsoft.com/office/drawing/2014/main" id="{2687D00B-8350-4DAB-9EA1-FD0A3086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95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接受“错过是常态”</a:t>
            </a:r>
          </a:p>
        </p:txBody>
      </p:sp>
      <p:sp>
        <p:nvSpPr>
          <p:cNvPr id="14" name="s1-body-0">
            <a:extLst xmlns:a="http://schemas.openxmlformats.org/drawingml/2006/main">
              <a:ext uri="{FF2B5EF4-FFF2-40B4-BE49-F238E27FC236}">
                <a16:creationId xmlns:a16="http://schemas.microsoft.com/office/drawing/2014/main" id="{119DF025-33D9-4C5E-941B-68302805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43150"/>
            <a:ext cx="481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市场永远有新机会，生活也永远有新体验。你不需要拥有全部。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FAC3C2-FC9C-4723-BB21-6959C775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14650"/>
            <a:ext cx="59436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8FB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F01FF6-05F8-4E62-9E01-684BEACD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813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9A8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s1-title-1">
            <a:extLst xmlns:a="http://schemas.openxmlformats.org/drawingml/2006/main">
              <a:ext uri="{FF2B5EF4-FFF2-40B4-BE49-F238E27FC236}">
                <a16:creationId xmlns:a16="http://schemas.microsoft.com/office/drawing/2014/main" id="{210A14DC-56F5-4157-8929-6E363CFE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86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问一个关键问题</a:t>
            </a:r>
          </a:p>
        </p:txBody>
      </p:sp>
      <p:sp>
        <p:nvSpPr>
          <p:cNvPr id="18" name="s1-body-1">
            <a:extLst xmlns:a="http://schemas.openxmlformats.org/drawingml/2006/main">
              <a:ext uri="{FF2B5EF4-FFF2-40B4-BE49-F238E27FC236}">
                <a16:creationId xmlns:a16="http://schemas.microsoft.com/office/drawing/2014/main" id="{40C39E13-61B6-4092-AD03-AE697926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33750"/>
            <a:ext cx="481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错过这件事，会影响我的核心目标、价值排序或真正重要的人吗？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AEDF98-6DDE-47F5-8FE6-00C75172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59436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365AAF-EF22-4C60-86D9-2710A177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719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9A8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s1-title-2">
            <a:extLst xmlns:a="http://schemas.openxmlformats.org/drawingml/2006/main">
              <a:ext uri="{FF2B5EF4-FFF2-40B4-BE49-F238E27FC236}">
                <a16:creationId xmlns:a16="http://schemas.microsoft.com/office/drawing/2014/main" id="{E840D9FB-D2C8-41CE-BC46-4480B864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07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记录触发场景</a:t>
            </a:r>
          </a:p>
        </p:txBody>
      </p:sp>
      <p:sp>
        <p:nvSpPr>
          <p:cNvPr id="22" name="s1-body-2">
            <a:extLst xmlns:a="http://schemas.openxmlformats.org/drawingml/2006/main">
              <a:ext uri="{FF2B5EF4-FFF2-40B4-BE49-F238E27FC236}">
                <a16:creationId xmlns:a16="http://schemas.microsoft.com/office/drawing/2014/main" id="{A5942B6F-0AC3-44F6-BACA-ED85296B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24350"/>
            <a:ext cx="481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把 FOMO 出现的时刻写下来，辨认它是事实、情绪，还是比较带来的幻觉。</a:t>
            </a:r>
          </a:p>
        </p:txBody>
      </p:sp>
    </p:spTree>
    <p:extLst>
      <p:ext uri="{BB962C8B-B14F-4D97-AF65-F5344CB8AC3E}">
        <p14:creationId xmlns:p14="http://schemas.microsoft.com/office/powerpoint/2010/main" val="937183879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DFE"/>
            </a:gs>
            <a:gs pos="52000">
              <a:srgbClr val="FFF4F8"/>
            </a:gs>
            <a:gs pos="100000">
              <a:srgbClr val="FFEFF5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F727DD-FF34-4975-8210-6E850F7F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4300"/>
            <a:ext cx="2381250" cy="1809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DDE8">
                  <a:alpha val="95000"/>
                </a:srgbClr>
              </a:gs>
              <a:gs pos="55000">
                <a:srgbClr val="FFDDE8">
                  <a:alpha val="25000"/>
                </a:srgbClr>
              </a:gs>
              <a:gs pos="100000">
                <a:srgbClr val="FFDDE8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8F948-EA58-49A7-8464-FAB300C2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953000"/>
            <a:ext cx="2095500" cy="1428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E8F0">
                  <a:alpha val="90000"/>
                </a:srgbClr>
              </a:gs>
              <a:gs pos="55000">
                <a:srgbClr val="FFE8F0">
                  <a:alpha val="28000"/>
                </a:srgbClr>
              </a:gs>
              <a:gs pos="100000">
                <a:srgbClr val="FFE8F0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291EE-885D-4149-AD58-1A5D99BA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19700"/>
            <a:ext cx="1333500" cy="9144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>
                  <a:alpha val="60000"/>
                </a:srgbClr>
              </a:gs>
              <a:gs pos="100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eyebrow-6">
            <a:extLst xmlns:a="http://schemas.openxmlformats.org/drawingml/2006/main">
              <a:ext uri="{FF2B5EF4-FFF2-40B4-BE49-F238E27FC236}">
                <a16:creationId xmlns:a16="http://schemas.microsoft.com/office/drawing/2014/main" id="{18370D4E-0CDD-44F0-978D-CF86F12F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ANTI FOMO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099A3-94CB-42D2-B67A-1B8FC02D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480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6">
            <a:extLst xmlns:a="http://schemas.openxmlformats.org/drawingml/2006/main">
              <a:ext uri="{FF2B5EF4-FFF2-40B4-BE49-F238E27FC236}">
                <a16:creationId xmlns:a16="http://schemas.microsoft.com/office/drawing/2014/main" id="{8B6E3ABE-FCEF-47AB-A3CC-7CBABD81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title-策略二：把错过变成享受">
            <a:extLst xmlns:a="http://schemas.openxmlformats.org/drawingml/2006/main">
              <a:ext uri="{FF2B5EF4-FFF2-40B4-BE49-F238E27FC236}">
                <a16:creationId xmlns:a16="http://schemas.microsoft.com/office/drawing/2014/main" id="{ECB3FA09-88F8-4B69-AB8A-8C7D0E33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策略二：把错过变成享受</a:t>
            </a:r>
          </a:p>
        </p:txBody>
      </p:sp>
      <p:sp>
        <p:nvSpPr>
          <p:cNvPr id="8" name="subtitle-策略二：把错过变成享受">
            <a:extLst xmlns:a="http://schemas.openxmlformats.org/drawingml/2006/main">
              <a:ext uri="{FF2B5EF4-FFF2-40B4-BE49-F238E27FC236}">
                <a16:creationId xmlns:a16="http://schemas.microsoft.com/office/drawing/2014/main" id="{06F768BA-4748-4611-8B5A-17B79E50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01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JOMO 不是躲避世界，而是把注意力从“别人有什么”转回“我想过什么样的生活”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FECFE-F92B-4826-9ADC-9729F098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98107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s2-quote">
            <a:extLst xmlns:a="http://schemas.openxmlformats.org/drawingml/2006/main">
              <a:ext uri="{FF2B5EF4-FFF2-40B4-BE49-F238E27FC236}">
                <a16:creationId xmlns:a16="http://schemas.microsoft.com/office/drawing/2014/main" id="{08A89DC2-8247-4937-B01F-120BC8FA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4790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100" b="0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rPr>
              <a:t>当你允许自己不去追每一场热闹，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2100" b="0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rPr>
              <a:t>当下的咖啡、书页、阳光和独处，才会重新变得有重量。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B5304-CFD5-470C-B6B3-51DF8D61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29908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s2-title-0">
            <a:extLst xmlns:a="http://schemas.openxmlformats.org/drawingml/2006/main">
              <a:ext uri="{FF2B5EF4-FFF2-40B4-BE49-F238E27FC236}">
                <a16:creationId xmlns:a16="http://schemas.microsoft.com/office/drawing/2014/main" id="{F74454A3-E618-4994-AC7A-A06AC7A8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关掉不必要的通知</a:t>
            </a:r>
          </a:p>
        </p:txBody>
      </p:sp>
      <p:sp>
        <p:nvSpPr>
          <p:cNvPr id="13" name="s2-body-0">
            <a:extLst xmlns:a="http://schemas.openxmlformats.org/drawingml/2006/main">
              <a:ext uri="{FF2B5EF4-FFF2-40B4-BE49-F238E27FC236}">
                <a16:creationId xmlns:a16="http://schemas.microsoft.com/office/drawing/2014/main" id="{2E985E00-215E-4026-AD91-86C7981F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减少被外部节奏牵着走的频率。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B8158-1563-4FEC-BD5C-E1AA5CD1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76650"/>
            <a:ext cx="29908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1F6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2-title-1">
            <a:extLst xmlns:a="http://schemas.openxmlformats.org/drawingml/2006/main">
              <a:ext uri="{FF2B5EF4-FFF2-40B4-BE49-F238E27FC236}">
                <a16:creationId xmlns:a16="http://schemas.microsoft.com/office/drawing/2014/main" id="{0B73B444-7C67-41C6-97C7-75151C60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享受眼前的小确幸</a:t>
            </a:r>
          </a:p>
        </p:txBody>
      </p:sp>
      <p:sp>
        <p:nvSpPr>
          <p:cNvPr id="16" name="s2-body-1">
            <a:extLst xmlns:a="http://schemas.openxmlformats.org/drawingml/2006/main">
              <a:ext uri="{FF2B5EF4-FFF2-40B4-BE49-F238E27FC236}">
                <a16:creationId xmlns:a16="http://schemas.microsoft.com/office/drawing/2014/main" id="{B0FFA244-845B-4FD1-B2D6-C2DBA2E0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4340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把注意力放回此刻可触摸、可感受的事物。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9DF65-F786-40CC-9B09-BA02F9DF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76650"/>
            <a:ext cx="29908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s2-title-2">
            <a:extLst xmlns:a="http://schemas.openxmlformats.org/drawingml/2006/main">
              <a:ext uri="{FF2B5EF4-FFF2-40B4-BE49-F238E27FC236}">
                <a16:creationId xmlns:a16="http://schemas.microsoft.com/office/drawing/2014/main" id="{57DCF7B5-9B94-4455-8972-34195BCD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珍惜独处时光</a:t>
            </a:r>
          </a:p>
        </p:txBody>
      </p:sp>
      <p:sp>
        <p:nvSpPr>
          <p:cNvPr id="19" name="s2-body-2">
            <a:extLst xmlns:a="http://schemas.openxmlformats.org/drawingml/2006/main">
              <a:ext uri="{FF2B5EF4-FFF2-40B4-BE49-F238E27FC236}">
                <a16:creationId xmlns:a16="http://schemas.microsoft.com/office/drawing/2014/main" id="{4F11EC40-1ED5-4227-8A02-B2174EED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4340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独处不是空白，而是恢复内在秩序的时间。</a:t>
            </a:r>
          </a:p>
        </p:txBody>
      </p:sp>
    </p:spTree>
    <p:extLst>
      <p:ext uri="{BB962C8B-B14F-4D97-AF65-F5344CB8AC3E}">
        <p14:creationId xmlns:p14="http://schemas.microsoft.com/office/powerpoint/2010/main" val="202487400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DFE"/>
            </a:gs>
            <a:gs pos="52000">
              <a:srgbClr val="FFF4F8"/>
            </a:gs>
            <a:gs pos="100000">
              <a:srgbClr val="FFEFF5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01F262-8C10-4E19-976E-591279A5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4300"/>
            <a:ext cx="2381250" cy="1809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DDE8">
                  <a:alpha val="95000"/>
                </a:srgbClr>
              </a:gs>
              <a:gs pos="55000">
                <a:srgbClr val="FFDDE8">
                  <a:alpha val="25000"/>
                </a:srgbClr>
              </a:gs>
              <a:gs pos="100000">
                <a:srgbClr val="FFDDE8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15B1D-35A3-4B6E-9E4B-ACAAE7DD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953000"/>
            <a:ext cx="2095500" cy="1428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E8F0">
                  <a:alpha val="90000"/>
                </a:srgbClr>
              </a:gs>
              <a:gs pos="55000">
                <a:srgbClr val="FFE8F0">
                  <a:alpha val="28000"/>
                </a:srgbClr>
              </a:gs>
              <a:gs pos="100000">
                <a:srgbClr val="FFE8F0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D6F40-B17A-470B-AF54-C4D89E56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19700"/>
            <a:ext cx="1333500" cy="9144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>
                  <a:alpha val="60000"/>
                </a:srgbClr>
              </a:gs>
              <a:gs pos="100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eyebrow-7">
            <a:extLst xmlns:a="http://schemas.openxmlformats.org/drawingml/2006/main">
              <a:ext uri="{FF2B5EF4-FFF2-40B4-BE49-F238E27FC236}">
                <a16:creationId xmlns:a16="http://schemas.microsoft.com/office/drawing/2014/main" id="{CB267D4B-BE79-43D7-9D1B-B93533AF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ANTI FOMO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7EECA-55E3-4C7F-9F8B-F3A45FEB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480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7">
            <a:extLst xmlns:a="http://schemas.openxmlformats.org/drawingml/2006/main">
              <a:ext uri="{FF2B5EF4-FFF2-40B4-BE49-F238E27FC236}">
                <a16:creationId xmlns:a16="http://schemas.microsoft.com/office/drawing/2014/main" id="{59DF32A8-831A-49E0-B21B-DCE70826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title-策略三：给注意力做减法">
            <a:extLst xmlns:a="http://schemas.openxmlformats.org/drawingml/2006/main">
              <a:ext uri="{FF2B5EF4-FFF2-40B4-BE49-F238E27FC236}">
                <a16:creationId xmlns:a16="http://schemas.microsoft.com/office/drawing/2014/main" id="{12CB70E2-1F71-40F1-B59F-34FD3E32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策略三：给注意力做减法</a:t>
            </a:r>
          </a:p>
        </p:txBody>
      </p:sp>
      <p:sp>
        <p:nvSpPr>
          <p:cNvPr id="8" name="subtitle-策略三：给注意力做减法">
            <a:extLst xmlns:a="http://schemas.openxmlformats.org/drawingml/2006/main">
              <a:ext uri="{FF2B5EF4-FFF2-40B4-BE49-F238E27FC236}">
                <a16:creationId xmlns:a16="http://schemas.microsoft.com/office/drawing/2014/main" id="{C91DCE04-064F-48BC-8EB5-B0AF6EBE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01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给屏幕设置边界，你的大脑才有机会从“随时待命”回到稳定节律。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A1862-BA92-4CC4-AE09-D9CF3EDB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3048000" cy="3143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3F7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s3-left-title">
            <a:extLst xmlns:a="http://schemas.openxmlformats.org/drawingml/2006/main">
              <a:ext uri="{FF2B5EF4-FFF2-40B4-BE49-F238E27FC236}">
                <a16:creationId xmlns:a16="http://schemas.microsoft.com/office/drawing/2014/main" id="{BE3EEF3E-A979-4740-AEAB-4F73B809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建议的无手机时间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72412-3FD7-4AEE-B2B5-6A0785D1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4955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s3-time-0">
            <a:extLst xmlns:a="http://schemas.openxmlformats.org/drawingml/2006/main">
              <a:ext uri="{FF2B5EF4-FFF2-40B4-BE49-F238E27FC236}">
                <a16:creationId xmlns:a16="http://schemas.microsoft.com/office/drawing/2014/main" id="{D4B03FD0-B5E5-4FFC-AA5F-58135F48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289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rPr>
              <a:t>用餐时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B637F-8B0A-48FD-89EB-548E58D4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24955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s3-time-1">
            <a:extLst xmlns:a="http://schemas.openxmlformats.org/drawingml/2006/main">
              <a:ext uri="{FF2B5EF4-FFF2-40B4-BE49-F238E27FC236}">
                <a16:creationId xmlns:a16="http://schemas.microsoft.com/office/drawing/2014/main" id="{2B3D475B-F7EF-4D3E-ADF6-EB7B442B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528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rPr>
              <a:t>睡前 1 小时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7A05BD-63C5-44ED-AEFD-4051EEDA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24955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s3-time-2">
            <a:extLst xmlns:a="http://schemas.openxmlformats.org/drawingml/2006/main">
              <a:ext uri="{FF2B5EF4-FFF2-40B4-BE49-F238E27FC236}">
                <a16:creationId xmlns:a16="http://schemas.microsoft.com/office/drawing/2014/main" id="{1953E2A5-0F78-4094-97A8-B0639B78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767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rPr>
              <a:t>周末上午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650EA-5DC4-4477-8EE9-8CD9DAF3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43100"/>
            <a:ext cx="63246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s3-title-0">
            <a:extLst xmlns:a="http://schemas.openxmlformats.org/drawingml/2006/main">
              <a:ext uri="{FF2B5EF4-FFF2-40B4-BE49-F238E27FC236}">
                <a16:creationId xmlns:a16="http://schemas.microsoft.com/office/drawing/2014/main" id="{AE5F8433-39D6-4834-B331-EFFD01A0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限制社交媒体时长</a:t>
            </a:r>
          </a:p>
        </p:txBody>
      </p:sp>
      <p:sp>
        <p:nvSpPr>
          <p:cNvPr id="19" name="s3-body-0">
            <a:extLst xmlns:a="http://schemas.openxmlformats.org/drawingml/2006/main">
              <a:ext uri="{FF2B5EF4-FFF2-40B4-BE49-F238E27FC236}">
                <a16:creationId xmlns:a16="http://schemas.microsoft.com/office/drawing/2014/main" id="{D95E9F4F-4BD5-45EE-94ED-30CE3E02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3840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每天不超过 30 分钟，并打开屏幕时间追踪工具。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959641-DD39-4DEC-9060-F3696A10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90850"/>
            <a:ext cx="63246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7FB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s3-title-1">
            <a:extLst xmlns:a="http://schemas.openxmlformats.org/drawingml/2006/main">
              <a:ext uri="{FF2B5EF4-FFF2-40B4-BE49-F238E27FC236}">
                <a16:creationId xmlns:a16="http://schemas.microsoft.com/office/drawing/2014/main" id="{046B122B-B15F-45F7-B3EF-41CEC4C6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04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清理信息源</a:t>
            </a:r>
          </a:p>
        </p:txBody>
      </p:sp>
      <p:sp>
        <p:nvSpPr>
          <p:cNvPr id="22" name="s3-body-1">
            <a:extLst xmlns:a="http://schemas.openxmlformats.org/drawingml/2006/main">
              <a:ext uri="{FF2B5EF4-FFF2-40B4-BE49-F238E27FC236}">
                <a16:creationId xmlns:a16="http://schemas.microsoft.com/office/drawing/2014/main" id="{4C8768E5-D8CF-4A23-8870-A97DFE39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8615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取关容易引发焦虑的账号，保留真正有价值、能滋养你的内容。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A08BE3-6810-410F-8D6B-6F5424F7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38600"/>
            <a:ext cx="63246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s3-title-2">
            <a:extLst xmlns:a="http://schemas.openxmlformats.org/drawingml/2006/main">
              <a:ext uri="{FF2B5EF4-FFF2-40B4-BE49-F238E27FC236}">
                <a16:creationId xmlns:a16="http://schemas.microsoft.com/office/drawing/2014/main" id="{EE7C7894-8900-4DD6-B1A4-42DF0C30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481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关闭非必要通知</a:t>
            </a:r>
          </a:p>
        </p:txBody>
      </p:sp>
      <p:sp>
        <p:nvSpPr>
          <p:cNvPr id="25" name="s3-body-2">
            <a:extLst xmlns:a="http://schemas.openxmlformats.org/drawingml/2006/main">
              <a:ext uri="{FF2B5EF4-FFF2-40B4-BE49-F238E27FC236}">
                <a16:creationId xmlns:a16="http://schemas.microsoft.com/office/drawing/2014/main" id="{9F271429-F023-4F81-83DF-EA4F025A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3390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只保留家人、工作与安全相关的必要提醒。</a:t>
            </a:r>
          </a:p>
        </p:txBody>
      </p:sp>
    </p:spTree>
    <p:extLst>
      <p:ext uri="{BB962C8B-B14F-4D97-AF65-F5344CB8AC3E}">
        <p14:creationId xmlns:p14="http://schemas.microsoft.com/office/powerpoint/2010/main" val="2130657417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DFE"/>
            </a:gs>
            <a:gs pos="52000">
              <a:srgbClr val="FFF4F8"/>
            </a:gs>
            <a:gs pos="100000">
              <a:srgbClr val="FFEFF5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F1C080-A811-4E0F-AF33-2822A6C5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4300"/>
            <a:ext cx="2381250" cy="1809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DDE8">
                  <a:alpha val="95000"/>
                </a:srgbClr>
              </a:gs>
              <a:gs pos="55000">
                <a:srgbClr val="FFDDE8">
                  <a:alpha val="25000"/>
                </a:srgbClr>
              </a:gs>
              <a:gs pos="100000">
                <a:srgbClr val="FFDDE8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D3273-0EF5-4ADA-BC2D-5A342723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953000"/>
            <a:ext cx="2095500" cy="1428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E8F0">
                  <a:alpha val="90000"/>
                </a:srgbClr>
              </a:gs>
              <a:gs pos="55000">
                <a:srgbClr val="FFE8F0">
                  <a:alpha val="28000"/>
                </a:srgbClr>
              </a:gs>
              <a:gs pos="100000">
                <a:srgbClr val="FFE8F0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1E730-82EF-438F-9810-F3D5DAA4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19700"/>
            <a:ext cx="1333500" cy="9144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>
                  <a:alpha val="60000"/>
                </a:srgbClr>
              </a:gs>
              <a:gs pos="100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eyebrow-8">
            <a:extLst xmlns:a="http://schemas.openxmlformats.org/drawingml/2006/main">
              <a:ext uri="{FF2B5EF4-FFF2-40B4-BE49-F238E27FC236}">
                <a16:creationId xmlns:a16="http://schemas.microsoft.com/office/drawing/2014/main" id="{50D162C9-1315-4B77-B2D9-8206579C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ANTI FOMO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4D0B8-891D-41CA-B2AE-F964DA45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480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8">
            <a:extLst xmlns:a="http://schemas.openxmlformats.org/drawingml/2006/main">
              <a:ext uri="{FF2B5EF4-FFF2-40B4-BE49-F238E27FC236}">
                <a16:creationId xmlns:a16="http://schemas.microsoft.com/office/drawing/2014/main" id="{4ADC2D4A-27B3-42F0-B03C-4FC7A874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title-策略四：把自己带回当下">
            <a:extLst xmlns:a="http://schemas.openxmlformats.org/drawingml/2006/main">
              <a:ext uri="{FF2B5EF4-FFF2-40B4-BE49-F238E27FC236}">
                <a16:creationId xmlns:a16="http://schemas.microsoft.com/office/drawing/2014/main" id="{F21126AC-288A-4954-8C53-95015D5E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策略四：把自己带回当下</a:t>
            </a:r>
          </a:p>
        </p:txBody>
      </p:sp>
      <p:sp>
        <p:nvSpPr>
          <p:cNvPr id="8" name="subtitle-策略四：把自己带回当下">
            <a:extLst xmlns:a="http://schemas.openxmlformats.org/drawingml/2006/main">
              <a:ext uri="{FF2B5EF4-FFF2-40B4-BE49-F238E27FC236}">
                <a16:creationId xmlns:a16="http://schemas.microsoft.com/office/drawing/2014/main" id="{6A5861C5-128A-4B28-AD00-1411615E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01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关键不是把情绪赶走，而是学会观察它、放慢它，然后不跟着它跑。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0A941-C4C2-4D19-980C-59F104A9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2667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/>
              </a:gs>
              <a:gs pos="56000">
                <a:srgbClr val="FFF1F6"/>
              </a:gs>
              <a:gs pos="100000">
                <a:srgbClr val="FFD7E6"/>
              </a:gs>
            </a:gsLst>
            <a:path path="shape"/>
          </a:gradFill>
          <a:ln xmlns:a="http://schemas.openxmlformats.org/drawingml/2006/main" w="9525">
            <a:solidFill>
              <a:srgbClr val="FFD1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D492C-54CD-41EF-B237-2DFEB1AF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90800"/>
            <a:ext cx="1676400" cy="16764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DFE"/>
              </a:gs>
              <a:gs pos="100000">
                <a:srgbClr val="FFFFFF"/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1" name="s4-breath">
            <a:extLst xmlns:a="http://schemas.openxmlformats.org/drawingml/2006/main">
              <a:ext uri="{FF2B5EF4-FFF2-40B4-BE49-F238E27FC236}">
                <a16:creationId xmlns:a16="http://schemas.microsoft.com/office/drawing/2014/main" id="{3C2269E0-ABDE-48C3-88B6-D3F46C1C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48000"/>
            <a:ext cx="129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0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rPr>
              <a:t>停一下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80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rPr>
              <a:t>呼吸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80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rPr>
              <a:t>感受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E45E1-2007-4B2F-9DC2-483E497C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65151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4F8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4-title-0">
            <a:extLst xmlns:a="http://schemas.openxmlformats.org/drawingml/2006/main">
              <a:ext uri="{FF2B5EF4-FFF2-40B4-BE49-F238E27FC236}">
                <a16:creationId xmlns:a16="http://schemas.microsoft.com/office/drawing/2014/main" id="{AD0F9FC9-18D6-4276-9B1E-E3D879B2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717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正念冥想 5-10 分钟</a:t>
            </a:r>
          </a:p>
        </p:txBody>
      </p:sp>
      <p:sp>
        <p:nvSpPr>
          <p:cNvPr id="14" name="s4-body-0">
            <a:extLst xmlns:a="http://schemas.openxmlformats.org/drawingml/2006/main">
              <a:ext uri="{FF2B5EF4-FFF2-40B4-BE49-F238E27FC236}">
                <a16:creationId xmlns:a16="http://schemas.microsoft.com/office/drawing/2014/main" id="{0FEC0453-54C2-4E68-BF67-12B737B3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5745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专注呼吸，允许念头经过，不急着评判或处理。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F063B0-02E9-417E-9067-6B69B006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9900"/>
            <a:ext cx="65151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s4-title-1">
            <a:extLst xmlns:a="http://schemas.openxmlformats.org/drawingml/2006/main">
              <a:ext uri="{FF2B5EF4-FFF2-40B4-BE49-F238E27FC236}">
                <a16:creationId xmlns:a16="http://schemas.microsoft.com/office/drawing/2014/main" id="{8696933A-9E83-4B7E-A3B4-AA42DF96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004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做感官沉浸练习</a:t>
            </a:r>
          </a:p>
        </p:txBody>
      </p:sp>
      <p:sp>
        <p:nvSpPr>
          <p:cNvPr id="17" name="s4-body-1">
            <a:extLst xmlns:a="http://schemas.openxmlformats.org/drawingml/2006/main">
              <a:ext uri="{FF2B5EF4-FFF2-40B4-BE49-F238E27FC236}">
                <a16:creationId xmlns:a16="http://schemas.microsoft.com/office/drawing/2014/main" id="{B7B63C4C-E20A-45D8-A916-56E7BDCF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8615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吃饭时认真品味，散步时感受光线、风和脚步。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CE5BE-AB74-4883-91C6-AEE0C766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38600"/>
            <a:ext cx="65151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s4-title-2">
            <a:extLst xmlns:a="http://schemas.openxmlformats.org/drawingml/2006/main">
              <a:ext uri="{FF2B5EF4-FFF2-40B4-BE49-F238E27FC236}">
                <a16:creationId xmlns:a16="http://schemas.microsoft.com/office/drawing/2014/main" id="{92407D97-B327-4519-B0A7-17BB822D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29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建立 24 小时冷却期</a:t>
            </a:r>
          </a:p>
        </p:txBody>
      </p:sp>
      <p:sp>
        <p:nvSpPr>
          <p:cNvPr id="20" name="s4-body-2">
            <a:extLst xmlns:a="http://schemas.openxmlformats.org/drawingml/2006/main">
              <a:ext uri="{FF2B5EF4-FFF2-40B4-BE49-F238E27FC236}">
                <a16:creationId xmlns:a16="http://schemas.microsoft.com/office/drawing/2014/main" id="{244F7A44-DEED-4D51-A660-EE9533D3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1485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冲动消费、投资或跟风前，先给自己一天时间。</a:t>
            </a:r>
          </a:p>
        </p:txBody>
      </p:sp>
    </p:spTree>
    <p:extLst>
      <p:ext uri="{BB962C8B-B14F-4D97-AF65-F5344CB8AC3E}">
        <p14:creationId xmlns:p14="http://schemas.microsoft.com/office/powerpoint/2010/main" val="151922423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DFE"/>
            </a:gs>
            <a:gs pos="52000">
              <a:srgbClr val="FFF4F8"/>
            </a:gs>
            <a:gs pos="100000">
              <a:srgbClr val="FFEFF5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7B78BB-3257-4755-9B98-3E96A0A1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4300"/>
            <a:ext cx="2381250" cy="1809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DDE8">
                  <a:alpha val="95000"/>
                </a:srgbClr>
              </a:gs>
              <a:gs pos="55000">
                <a:srgbClr val="FFDDE8">
                  <a:alpha val="25000"/>
                </a:srgbClr>
              </a:gs>
              <a:gs pos="100000">
                <a:srgbClr val="FFDDE8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70601-3B6A-4267-B1EB-586CE238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953000"/>
            <a:ext cx="2095500" cy="1428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E8F0">
                  <a:alpha val="90000"/>
                </a:srgbClr>
              </a:gs>
              <a:gs pos="55000">
                <a:srgbClr val="FFE8F0">
                  <a:alpha val="28000"/>
                </a:srgbClr>
              </a:gs>
              <a:gs pos="100000">
                <a:srgbClr val="FFE8F0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18926-878E-4827-9B1E-B04ADD6F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19700"/>
            <a:ext cx="1333500" cy="9144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>
                  <a:alpha val="60000"/>
                </a:srgbClr>
              </a:gs>
              <a:gs pos="100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eyebrow-9">
            <a:extLst xmlns:a="http://schemas.openxmlformats.org/drawingml/2006/main">
              <a:ext uri="{FF2B5EF4-FFF2-40B4-BE49-F238E27FC236}">
                <a16:creationId xmlns:a16="http://schemas.microsoft.com/office/drawing/2014/main" id="{D6D33E6C-C35B-44CB-BA38-3D2E0CC6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ANTI FOMO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33BC0-2545-447C-9406-BAECE078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480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9">
            <a:extLst xmlns:a="http://schemas.openxmlformats.org/drawingml/2006/main">
              <a:ext uri="{FF2B5EF4-FFF2-40B4-BE49-F238E27FC236}">
                <a16:creationId xmlns:a16="http://schemas.microsoft.com/office/drawing/2014/main" id="{1318239B-A244-4422-8C20-6A8BA87E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title-策略五：修复“我还不够”">
            <a:extLst xmlns:a="http://schemas.openxmlformats.org/drawingml/2006/main">
              <a:ext uri="{FF2B5EF4-FFF2-40B4-BE49-F238E27FC236}">
                <a16:creationId xmlns:a16="http://schemas.microsoft.com/office/drawing/2014/main" id="{B17558B4-BDA7-4890-85C5-7A543043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策略五：修复“我还不够”</a:t>
            </a:r>
          </a:p>
        </p:txBody>
      </p:sp>
      <p:sp>
        <p:nvSpPr>
          <p:cNvPr id="8" name="subtitle-策略五：修复“我还不够”">
            <a:extLst xmlns:a="http://schemas.openxmlformats.org/drawingml/2006/main">
              <a:ext uri="{FF2B5EF4-FFF2-40B4-BE49-F238E27FC236}">
                <a16:creationId xmlns:a16="http://schemas.microsoft.com/office/drawing/2014/main" id="{FAB903EA-E1AC-40A2-9A6A-6FEAFDA2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01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当注意力不再只盯着“别人有什么”，你更容易看见自己已经拥有和正在成长的部分。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C9577-B8AC-4CE8-9859-3E9F17B9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686300" cy="28194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s5-journal-title">
            <a:extLst xmlns:a="http://schemas.openxmlformats.org/drawingml/2006/main">
              <a:ext uri="{FF2B5EF4-FFF2-40B4-BE49-F238E27FC236}">
                <a16:creationId xmlns:a16="http://schemas.microsoft.com/office/drawing/2014/main" id="{789A76A6-6301-4607-94A2-8E166F59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43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今晚可以写下的 3 件小事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93E27-AD4A-4C82-A2B7-5E479998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0350"/>
            <a:ext cx="403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7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5-note-0">
            <a:extLst xmlns:a="http://schemas.openxmlformats.org/drawingml/2006/main">
              <a:ext uri="{FF2B5EF4-FFF2-40B4-BE49-F238E27FC236}">
                <a16:creationId xmlns:a16="http://schemas.microsoft.com/office/drawing/2014/main" id="{A52AA661-58F0-4A5B-8775-0B054447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今天有人认真听我说话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09B41C-90AB-4C86-A1BF-C4702538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52800"/>
            <a:ext cx="403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7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5-note-1">
            <a:extLst xmlns:a="http://schemas.openxmlformats.org/drawingml/2006/main">
              <a:ext uri="{FF2B5EF4-FFF2-40B4-BE49-F238E27FC236}">
                <a16:creationId xmlns:a16="http://schemas.microsoft.com/office/drawing/2014/main" id="{D254D602-7CBF-4A1C-AC69-32518C8B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671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我完成了一件原本拖延的事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EA448E-7A56-4610-BBB1-F8433977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403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7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5-note-2">
            <a:extLst xmlns:a="http://schemas.openxmlformats.org/drawingml/2006/main">
              <a:ext uri="{FF2B5EF4-FFF2-40B4-BE49-F238E27FC236}">
                <a16:creationId xmlns:a16="http://schemas.microsoft.com/office/drawing/2014/main" id="{05EBA8EA-A80C-432D-A081-1F8A7593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我给自己留出了休息时间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4821B8-6E81-4527-95ED-544F47F5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19300"/>
            <a:ext cx="47053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s5-title-0">
            <a:extLst xmlns:a="http://schemas.openxmlformats.org/drawingml/2006/main">
              <a:ext uri="{FF2B5EF4-FFF2-40B4-BE49-F238E27FC236}">
                <a16:creationId xmlns:a16="http://schemas.microsoft.com/office/drawing/2014/main" id="{76D9BDC6-CAC1-416F-A9CC-DED38D87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感恩日记</a:t>
            </a:r>
          </a:p>
        </p:txBody>
      </p:sp>
      <p:sp>
        <p:nvSpPr>
          <p:cNvPr id="19" name="s5-body-0">
            <a:extLst xmlns:a="http://schemas.openxmlformats.org/drawingml/2006/main">
              <a:ext uri="{FF2B5EF4-FFF2-40B4-BE49-F238E27FC236}">
                <a16:creationId xmlns:a16="http://schemas.microsoft.com/office/drawing/2014/main" id="{DA3B3C5B-588F-499A-9B91-103EA75E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每天写下 3 件值得感恩的事，帮助注意力从匮乏转向拥有。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842A5-C1C1-4175-A345-46F1A707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90850"/>
            <a:ext cx="47053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F7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s5-title-1">
            <a:extLst xmlns:a="http://schemas.openxmlformats.org/drawingml/2006/main">
              <a:ext uri="{FF2B5EF4-FFF2-40B4-BE49-F238E27FC236}">
                <a16:creationId xmlns:a16="http://schemas.microsoft.com/office/drawing/2014/main" id="{E92495A7-7533-4E6D-BF3A-E53DF95F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积极自我对话</a:t>
            </a:r>
          </a:p>
        </p:txBody>
      </p:sp>
      <p:sp>
        <p:nvSpPr>
          <p:cNvPr id="22" name="s5-body-1">
            <a:extLst xmlns:a="http://schemas.openxmlformats.org/drawingml/2006/main">
              <a:ext uri="{FF2B5EF4-FFF2-40B4-BE49-F238E27FC236}">
                <a16:creationId xmlns:a16="http://schemas.microsoft.com/office/drawing/2014/main" id="{31D5428A-CFA4-4B6A-AEBB-7108BDC3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用“我已经拥有足够多”替代“我是不是又错过了什么”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0C98AD-E2BA-482F-8A75-45C24C1B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62400"/>
            <a:ext cx="47053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s5-title-2">
            <a:extLst xmlns:a="http://schemas.openxmlformats.org/drawingml/2006/main">
              <a:ext uri="{FF2B5EF4-FFF2-40B4-BE49-F238E27FC236}">
                <a16:creationId xmlns:a16="http://schemas.microsoft.com/office/drawing/2014/main" id="{DF2D263D-67F0-4FE2-8F6C-4F778DB2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盘点个人优势</a:t>
            </a:r>
          </a:p>
        </p:txBody>
      </p:sp>
      <p:sp>
        <p:nvSpPr>
          <p:cNvPr id="25" name="s5-body-2">
            <a:extLst xmlns:a="http://schemas.openxmlformats.org/drawingml/2006/main">
              <a:ext uri="{FF2B5EF4-FFF2-40B4-BE49-F238E27FC236}">
                <a16:creationId xmlns:a16="http://schemas.microsoft.com/office/drawing/2014/main" id="{5A217322-802A-4836-A266-9B4D3482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回看自己的成就、技能，以及别人真诚给过你的赞美。</a:t>
            </a:r>
          </a:p>
        </p:txBody>
      </p:sp>
    </p:spTree>
    <p:extLst>
      <p:ext uri="{BB962C8B-B14F-4D97-AF65-F5344CB8AC3E}">
        <p14:creationId xmlns:p14="http://schemas.microsoft.com/office/powerpoint/2010/main" val="1284116598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DFE"/>
            </a:gs>
            <a:gs pos="52000">
              <a:srgbClr val="FFF4F8"/>
            </a:gs>
            <a:gs pos="100000">
              <a:srgbClr val="FFEFF5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44C114-AE71-4A6A-BD76-9B4AEADE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4300"/>
            <a:ext cx="2381250" cy="1809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DDE8">
                  <a:alpha val="95000"/>
                </a:srgbClr>
              </a:gs>
              <a:gs pos="55000">
                <a:srgbClr val="FFDDE8">
                  <a:alpha val="25000"/>
                </a:srgbClr>
              </a:gs>
              <a:gs pos="100000">
                <a:srgbClr val="FFDDE8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CC605-180B-4EFB-B8A4-B33C773F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953000"/>
            <a:ext cx="2095500" cy="1428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E8F0">
                  <a:alpha val="90000"/>
                </a:srgbClr>
              </a:gs>
              <a:gs pos="55000">
                <a:srgbClr val="FFE8F0">
                  <a:alpha val="28000"/>
                </a:srgbClr>
              </a:gs>
              <a:gs pos="100000">
                <a:srgbClr val="FFE8F0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DEF08-3F36-4C85-A1C6-387D1201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19700"/>
            <a:ext cx="1333500" cy="9144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>
                  <a:alpha val="60000"/>
                </a:srgbClr>
              </a:gs>
              <a:gs pos="100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eyebrow-10">
            <a:extLst xmlns:a="http://schemas.openxmlformats.org/drawingml/2006/main">
              <a:ext uri="{FF2B5EF4-FFF2-40B4-BE49-F238E27FC236}">
                <a16:creationId xmlns:a16="http://schemas.microsoft.com/office/drawing/2014/main" id="{6C0676A1-B01F-4AE6-A13B-DA624D2F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ANTI FOMO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1EE22-CAE2-4725-8AC1-0FBDD996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480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10">
            <a:extLst xmlns:a="http://schemas.openxmlformats.org/drawingml/2006/main">
              <a:ext uri="{FF2B5EF4-FFF2-40B4-BE49-F238E27FC236}">
                <a16:creationId xmlns:a16="http://schemas.microsoft.com/office/drawing/2014/main" id="{1E45EC18-1B28-4DC0-80A3-5F563C67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title-策略六：回到真实连接">
            <a:extLst xmlns:a="http://schemas.openxmlformats.org/drawingml/2006/main">
              <a:ext uri="{FF2B5EF4-FFF2-40B4-BE49-F238E27FC236}">
                <a16:creationId xmlns:a16="http://schemas.microsoft.com/office/drawing/2014/main" id="{41C3B5B8-C20D-4A05-BA12-CA548B58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策略六：回到真实连接</a:t>
            </a:r>
          </a:p>
        </p:txBody>
      </p:sp>
      <p:sp>
        <p:nvSpPr>
          <p:cNvPr id="8" name="subtitle-策略六：回到真实连接">
            <a:extLst xmlns:a="http://schemas.openxmlformats.org/drawingml/2006/main">
              <a:ext uri="{FF2B5EF4-FFF2-40B4-BE49-F238E27FC236}">
                <a16:creationId xmlns:a16="http://schemas.microsoft.com/office/drawing/2014/main" id="{BDDC1618-FDD6-45E2-83C0-307689B8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01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真正稳定归属感的，不是更多点赞，而是更深的陪伴、回应和共同经历。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130BF-3D11-42D3-818A-9E5010AC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304800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29D5A-0A15-4779-B4F5-7F7E4D00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336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F9"/>
          </a:solidFill>
          <a:ln xmlns:a="http://schemas.openxmlformats.org/drawingml/2006/main" w="9525">
            <a:solidFill>
              <a:srgbClr val="FFD1DC"/>
            </a:solidFill>
            <a:prstDash val="solid"/>
          </a:ln>
        </p:spPr>
      </p:sp>
      <p:sp>
        <p:nvSpPr>
          <p:cNvPr id="11" name="s6-icon-0">
            <a:extLst xmlns:a="http://schemas.openxmlformats.org/drawingml/2006/main">
              <a:ext uri="{FF2B5EF4-FFF2-40B4-BE49-F238E27FC236}">
                <a16:creationId xmlns:a16="http://schemas.microsoft.com/office/drawing/2014/main" id="{B768D92F-00FB-4F07-A769-DB312FFE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717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FF69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69B4"/>
                </a:solidFill>
                <a:latin typeface="Microsoft YaHei"/>
                <a:ea typeface="Microsoft YaHei"/>
                <a:cs typeface="Microsoft YaHei"/>
              </a:rPr>
              <a:t>见</a:t>
            </a:r>
          </a:p>
        </p:txBody>
      </p:sp>
      <p:sp>
        <p:nvSpPr>
          <p:cNvPr id="12" name="s6-title-0">
            <a:extLst xmlns:a="http://schemas.openxmlformats.org/drawingml/2006/main">
              <a:ext uri="{FF2B5EF4-FFF2-40B4-BE49-F238E27FC236}">
                <a16:creationId xmlns:a16="http://schemas.microsoft.com/office/drawing/2014/main" id="{44779570-37EE-4834-BA5B-B63EE728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861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线下见面</a:t>
            </a:r>
          </a:p>
        </p:txBody>
      </p:sp>
      <p:sp>
        <p:nvSpPr>
          <p:cNvPr id="13" name="s6-body-0">
            <a:extLst xmlns:a="http://schemas.openxmlformats.org/drawingml/2006/main">
              <a:ext uri="{FF2B5EF4-FFF2-40B4-BE49-F238E27FC236}">
                <a16:creationId xmlns:a16="http://schemas.microsoft.com/office/drawing/2014/main" id="{3E6DA465-09A9-43E3-90AF-1913ED72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481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定期和朋友、家人面对面吃饭、散步或聊天。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4EC456-DAC0-49E2-9FFA-5BFD031C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86000"/>
            <a:ext cx="304800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FFF3F7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F7209-E441-4D34-BACD-590D3F0B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336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F9"/>
          </a:solidFill>
          <a:ln xmlns:a="http://schemas.openxmlformats.org/drawingml/2006/main" w="9525">
            <a:solidFill>
              <a:srgbClr val="FFD1DC"/>
            </a:solidFill>
            <a:prstDash val="solid"/>
          </a:ln>
        </p:spPr>
      </p:sp>
      <p:sp>
        <p:nvSpPr>
          <p:cNvPr id="16" name="s6-icon-1">
            <a:extLst xmlns:a="http://schemas.openxmlformats.org/drawingml/2006/main">
              <a:ext uri="{FF2B5EF4-FFF2-40B4-BE49-F238E27FC236}">
                <a16:creationId xmlns:a16="http://schemas.microsoft.com/office/drawing/2014/main" id="{93CA932A-2348-4E28-B7D3-35251429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717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FF69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69B4"/>
                </a:solidFill>
                <a:latin typeface="Microsoft YaHei"/>
                <a:ea typeface="Microsoft YaHei"/>
                <a:cs typeface="Microsoft YaHei"/>
              </a:rPr>
              <a:t>聊</a:t>
            </a:r>
          </a:p>
        </p:txBody>
      </p:sp>
      <p:sp>
        <p:nvSpPr>
          <p:cNvPr id="17" name="s6-title-1">
            <a:extLst xmlns:a="http://schemas.openxmlformats.org/drawingml/2006/main">
              <a:ext uri="{FF2B5EF4-FFF2-40B4-BE49-F238E27FC236}">
                <a16:creationId xmlns:a16="http://schemas.microsoft.com/office/drawing/2014/main" id="{FE5B0254-1E1E-4238-8559-BE1D93F4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861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深度对话</a:t>
            </a:r>
          </a:p>
        </p:txBody>
      </p:sp>
      <p:sp>
        <p:nvSpPr>
          <p:cNvPr id="18" name="s6-body-1">
            <a:extLst xmlns:a="http://schemas.openxmlformats.org/drawingml/2006/main">
              <a:ext uri="{FF2B5EF4-FFF2-40B4-BE49-F238E27FC236}">
                <a16:creationId xmlns:a16="http://schemas.microsoft.com/office/drawing/2014/main" id="{C139D78E-4374-4D73-B19B-E7B20C1A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481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把“点赞评论”升级成电话、语音或一次认真交流。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FBAB8C-4D57-4B80-9993-FAAE8C42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86000"/>
            <a:ext cx="304800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9EA110-19EB-4B09-AF25-E355F034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336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5"/>
          </a:solidFill>
          <a:ln xmlns:a="http://schemas.openxmlformats.org/drawingml/2006/main" w="9525">
            <a:solidFill>
              <a:srgbClr val="FFD1DC"/>
            </a:solidFill>
            <a:prstDash val="solid"/>
          </a:ln>
        </p:spPr>
      </p:sp>
      <p:sp>
        <p:nvSpPr>
          <p:cNvPr id="21" name="s6-icon-2">
            <a:extLst xmlns:a="http://schemas.openxmlformats.org/drawingml/2006/main">
              <a:ext uri="{FF2B5EF4-FFF2-40B4-BE49-F238E27FC236}">
                <a16:creationId xmlns:a16="http://schemas.microsoft.com/office/drawing/2014/main" id="{08AC8E35-C81F-4A87-AE05-76140E01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717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FF69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69B4"/>
                </a:solidFill>
                <a:latin typeface="Microsoft YaHei"/>
                <a:ea typeface="Microsoft YaHei"/>
                <a:cs typeface="Microsoft YaHei"/>
              </a:rPr>
              <a:t>连</a:t>
            </a:r>
          </a:p>
        </p:txBody>
      </p:sp>
      <p:sp>
        <p:nvSpPr>
          <p:cNvPr id="22" name="s6-title-2">
            <a:extLst xmlns:a="http://schemas.openxmlformats.org/drawingml/2006/main">
              <a:ext uri="{FF2B5EF4-FFF2-40B4-BE49-F238E27FC236}">
                <a16:creationId xmlns:a16="http://schemas.microsoft.com/office/drawing/2014/main" id="{8E804B66-B194-4856-9018-C6548457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861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志愿服务</a:t>
            </a:r>
          </a:p>
        </p:txBody>
      </p:sp>
      <p:sp>
        <p:nvSpPr>
          <p:cNvPr id="23" name="s6-body-2">
            <a:extLst xmlns:a="http://schemas.openxmlformats.org/drawingml/2006/main">
              <a:ext uri="{FF2B5EF4-FFF2-40B4-BE49-F238E27FC236}">
                <a16:creationId xmlns:a16="http://schemas.microsoft.com/office/drawing/2014/main" id="{498FB376-AFC7-4C2C-8C9A-61302FEF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481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在帮助别人和参与群体中，重新建立意义感和归属感。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4F1ACC-F36C-4091-AD93-879A4BEC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48350"/>
            <a:ext cx="43815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66000"/>
            </a:srgbClr>
          </a:solidFill>
          <a:ln xmlns:a="http://schemas.openxmlformats.org/drawingml/2006/main" w="9525">
            <a:solidFill>
              <a:srgbClr val="FFD1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连接感来自被真实看见，而不是持续在线。</a:t>
            </a:r>
          </a:p>
        </p:txBody>
      </p:sp>
    </p:spTree>
    <p:extLst>
      <p:ext uri="{BB962C8B-B14F-4D97-AF65-F5344CB8AC3E}">
        <p14:creationId xmlns:p14="http://schemas.microsoft.com/office/powerpoint/2010/main" val="794429141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DFE"/>
            </a:gs>
            <a:gs pos="52000">
              <a:srgbClr val="FFF4F8"/>
            </a:gs>
            <a:gs pos="100000">
              <a:srgbClr val="FFEFF5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B6D174-B724-40EC-BB2E-5EE8D6BD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4300"/>
            <a:ext cx="2381250" cy="1809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DDE8">
                  <a:alpha val="95000"/>
                </a:srgbClr>
              </a:gs>
              <a:gs pos="55000">
                <a:srgbClr val="FFDDE8">
                  <a:alpha val="25000"/>
                </a:srgbClr>
              </a:gs>
              <a:gs pos="100000">
                <a:srgbClr val="FFDDE8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EF569-CB6B-42A5-A7B3-5357D1CE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953000"/>
            <a:ext cx="2095500" cy="1428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E8F0">
                  <a:alpha val="90000"/>
                </a:srgbClr>
              </a:gs>
              <a:gs pos="55000">
                <a:srgbClr val="FFE8F0">
                  <a:alpha val="28000"/>
                </a:srgbClr>
              </a:gs>
              <a:gs pos="100000">
                <a:srgbClr val="FFE8F0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E6F12-7273-45E7-A875-ED7E58A6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19700"/>
            <a:ext cx="1333500" cy="9144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>
                  <a:alpha val="60000"/>
                </a:srgbClr>
              </a:gs>
              <a:gs pos="100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eyebrow-11">
            <a:extLst xmlns:a="http://schemas.openxmlformats.org/drawingml/2006/main">
              <a:ext uri="{FF2B5EF4-FFF2-40B4-BE49-F238E27FC236}">
                <a16:creationId xmlns:a16="http://schemas.microsoft.com/office/drawing/2014/main" id="{A1003729-90F3-4AEC-990F-7AF9EE80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ANTI FOMO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61BB3-1EB8-4E34-A0AB-9E9BBB15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480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11">
            <a:extLst xmlns:a="http://schemas.openxmlformats.org/drawingml/2006/main">
              <a:ext uri="{FF2B5EF4-FFF2-40B4-BE49-F238E27FC236}">
                <a16:creationId xmlns:a16="http://schemas.microsoft.com/office/drawing/2014/main" id="{184B233D-151B-45F2-BEEA-B1181BB8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title-搭建你的反 FOMO 系统">
            <a:extLst xmlns:a="http://schemas.openxmlformats.org/drawingml/2006/main">
              <a:ext uri="{FF2B5EF4-FFF2-40B4-BE49-F238E27FC236}">
                <a16:creationId xmlns:a16="http://schemas.microsoft.com/office/drawing/2014/main" id="{1270A24E-BE40-4569-B22C-CC909666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搭建你的反 FOMO 系统</a:t>
            </a:r>
          </a:p>
        </p:txBody>
      </p:sp>
      <p:sp>
        <p:nvSpPr>
          <p:cNvPr id="8" name="subtitle-搭建你的反 FOMO 系统">
            <a:extLst xmlns:a="http://schemas.openxmlformats.org/drawingml/2006/main">
              <a:ext uri="{FF2B5EF4-FFF2-40B4-BE49-F238E27FC236}">
                <a16:creationId xmlns:a16="http://schemas.microsoft.com/office/drawing/2014/main" id="{30275E5A-70CD-4B68-8F74-F5D9B3E3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01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当你有一套固定流程，情绪来临时就不必每次都靠意志力硬扛。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E4120-1419-4962-9692-93AB2EAE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304800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FFF3F7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92C86-D153-4063-BF68-DE54CC98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9B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sys-title-0">
            <a:extLst xmlns:a="http://schemas.openxmlformats.org/drawingml/2006/main">
              <a:ext uri="{FF2B5EF4-FFF2-40B4-BE49-F238E27FC236}">
                <a16:creationId xmlns:a16="http://schemas.microsoft.com/office/drawing/2014/main" id="{EC4C20A2-BD4E-4617-9D69-94F8D02B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决策清单</a:t>
            </a:r>
          </a:p>
        </p:txBody>
      </p:sp>
      <p:sp>
        <p:nvSpPr>
          <p:cNvPr id="12" name="sys-body-0">
            <a:extLst xmlns:a="http://schemas.openxmlformats.org/drawingml/2006/main">
              <a:ext uri="{FF2B5EF4-FFF2-40B4-BE49-F238E27FC236}">
                <a16:creationId xmlns:a16="http://schemas.microsoft.com/office/drawing/2014/main" id="{A6FB8CB6-5D19-4E12-8DE7-F862CE0D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251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冲动来时先问：这是基于理性还是情绪？它符合我的长期目标吗？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33644-8003-47B9-BF4E-13491E2A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90750"/>
            <a:ext cx="304800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FA574-CDA2-442F-AA68-2E4D7003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193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9B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sys-title-1">
            <a:extLst xmlns:a="http://schemas.openxmlformats.org/drawingml/2006/main">
              <a:ext uri="{FF2B5EF4-FFF2-40B4-BE49-F238E27FC236}">
                <a16:creationId xmlns:a16="http://schemas.microsoft.com/office/drawing/2014/main" id="{A21A11FC-3713-47EC-9CDB-60076B75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信息管理</a:t>
            </a:r>
          </a:p>
        </p:txBody>
      </p:sp>
      <p:sp>
        <p:nvSpPr>
          <p:cNvPr id="16" name="sys-body-1">
            <a:extLst xmlns:a="http://schemas.openxmlformats.org/drawingml/2006/main">
              <a:ext uri="{FF2B5EF4-FFF2-40B4-BE49-F238E27FC236}">
                <a16:creationId xmlns:a16="http://schemas.microsoft.com/office/drawing/2014/main" id="{B42A9885-794E-46E2-B113-ABE0BCF7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90850"/>
            <a:ext cx="251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精选 2-3 个高质量信息源，减少重复输入和无效对比。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89B2A8-FDAB-4B38-BE4E-B2C973F7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90750"/>
            <a:ext cx="304800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9EE44-94BE-4396-98F1-9CEBD5C9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193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9B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sys-title-2">
            <a:extLst xmlns:a="http://schemas.openxmlformats.org/drawingml/2006/main">
              <a:ext uri="{FF2B5EF4-FFF2-40B4-BE49-F238E27FC236}">
                <a16:creationId xmlns:a16="http://schemas.microsoft.com/office/drawing/2014/main" id="{79EFA1AD-0A2F-42B7-881E-5AA2E3E6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复发预案</a:t>
            </a:r>
          </a:p>
        </p:txBody>
      </p:sp>
      <p:sp>
        <p:nvSpPr>
          <p:cNvPr id="20" name="sys-body-2">
            <a:extLst xmlns:a="http://schemas.openxmlformats.org/drawingml/2006/main">
              <a:ext uri="{FF2B5EF4-FFF2-40B4-BE49-F238E27FC236}">
                <a16:creationId xmlns:a16="http://schemas.microsoft.com/office/drawing/2014/main" id="{7636A175-6197-42A3-B971-391FCCD2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90850"/>
            <a:ext cx="251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提前准备替代活动：运动、阅读、写日记、做手工、出门走路。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70938-F8AE-41AE-B44F-62A78FC0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19650"/>
            <a:ext cx="84582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sys-strip">
            <a:extLst xmlns:a="http://schemas.openxmlformats.org/drawingml/2006/main">
              <a:ext uri="{FF2B5EF4-FFF2-40B4-BE49-F238E27FC236}">
                <a16:creationId xmlns:a16="http://schemas.microsoft.com/office/drawing/2014/main" id="{B87B689D-40C3-4F25-A6F7-9EDE6335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57775"/>
            <a:ext cx="7696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rPr>
              <a:t>把“看到什么都想跟”改成“遇到刺激先暂停、先判断、再选择”。</a:t>
            </a:r>
          </a:p>
        </p:txBody>
      </p:sp>
    </p:spTree>
    <p:extLst>
      <p:ext uri="{BB962C8B-B14F-4D97-AF65-F5344CB8AC3E}">
        <p14:creationId xmlns:p14="http://schemas.microsoft.com/office/powerpoint/2010/main" val="87132365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DFE"/>
            </a:gs>
            <a:gs pos="52000">
              <a:srgbClr val="FFF4F8"/>
            </a:gs>
            <a:gs pos="100000">
              <a:srgbClr val="FFEFF5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A63D1B-2796-4A54-9D21-9B3393D2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4300"/>
            <a:ext cx="2381250" cy="1809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DDE8">
                  <a:alpha val="95000"/>
                </a:srgbClr>
              </a:gs>
              <a:gs pos="55000">
                <a:srgbClr val="FFDDE8">
                  <a:alpha val="25000"/>
                </a:srgbClr>
              </a:gs>
              <a:gs pos="100000">
                <a:srgbClr val="FFDDE8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9E691-D83E-4927-8E3E-B128E40D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953000"/>
            <a:ext cx="2095500" cy="1428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E8F0">
                  <a:alpha val="90000"/>
                </a:srgbClr>
              </a:gs>
              <a:gs pos="55000">
                <a:srgbClr val="FFE8F0">
                  <a:alpha val="28000"/>
                </a:srgbClr>
              </a:gs>
              <a:gs pos="100000">
                <a:srgbClr val="FFE8F0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99EBA-6445-4B21-9BD4-96D97B55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19700"/>
            <a:ext cx="1333500" cy="9144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>
                  <a:alpha val="60000"/>
                </a:srgbClr>
              </a:gs>
              <a:gs pos="100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eyebrow-12">
            <a:extLst xmlns:a="http://schemas.openxmlformats.org/drawingml/2006/main">
              <a:ext uri="{FF2B5EF4-FFF2-40B4-BE49-F238E27FC236}">
                <a16:creationId xmlns:a16="http://schemas.microsoft.com/office/drawing/2014/main" id="{A8217404-6D5C-4209-AA76-0890F2B7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CLOSING NOTE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1C11F-A994-42BF-B553-1149CEE0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480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12">
            <a:extLst xmlns:a="http://schemas.openxmlformats.org/drawingml/2006/main">
              <a:ext uri="{FF2B5EF4-FFF2-40B4-BE49-F238E27FC236}">
                <a16:creationId xmlns:a16="http://schemas.microsoft.com/office/drawing/2014/main" id="{93B8F7A6-12C8-4866-AF1C-8CED7AEE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03CC9-5B68-415A-AC8D-ADBCAE00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14450"/>
            <a:ext cx="3695700" cy="36957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/>
              </a:gs>
              <a:gs pos="52000">
                <a:srgbClr val="FFF6F9"/>
              </a:gs>
              <a:gs pos="100000">
                <a:srgbClr val="FFD7E5"/>
              </a:gs>
            </a:gsLst>
            <a:path path="shape"/>
          </a:gradFill>
          <a:ln xmlns:a="http://schemas.openxmlformats.org/drawingml/2006/main" w="9525">
            <a:solidFill>
              <a:srgbClr val="FFD1DC"/>
            </a:solidFill>
            <a:prstDash val="solid"/>
          </a:ln>
        </p:spPr>
      </p:sp>
      <p:sp>
        <p:nvSpPr>
          <p:cNvPr id="8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8532BCF0-04AB-4B5C-A2D3-95086C9D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24100"/>
            <a:ext cx="742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1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你不需要参加每一场派对，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31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5C4454"/>
                </a:solidFill>
                <a:latin typeface="Microsoft YaHei"/>
                <a:ea typeface="Microsoft YaHei"/>
                <a:cs typeface="Microsoft YaHei"/>
              </a:rPr>
              <a:t>你本身就是一场盛宴。</a:t>
            </a:r>
          </a:p>
        </p:txBody>
      </p:sp>
      <p:sp>
        <p:nvSpPr>
          <p:cNvPr id="9" name="closing-body">
            <a:extLst xmlns:a="http://schemas.openxmlformats.org/drawingml/2006/main">
              <a:ext uri="{FF2B5EF4-FFF2-40B4-BE49-F238E27FC236}">
                <a16:creationId xmlns:a16="http://schemas.microsoft.com/office/drawing/2014/main" id="{D67EFF96-9AC3-4CB1-86FE-EAB955EE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86200"/>
            <a:ext cx="6362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6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从今天开始，只选一个策略实践：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6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8E7382"/>
                </a:solidFill>
                <a:latin typeface="Microsoft YaHei"/>
                <a:ea typeface="Microsoft YaHei"/>
                <a:cs typeface="Microsoft YaHei"/>
              </a:rPr>
              <a:t>关掉一组通知、写下三件感恩小事，或给自己一个无手机的小时。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3C228-6402-48D7-8467-CA3D5A5B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86350"/>
            <a:ext cx="35814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>
              <a:alpha val="84000"/>
            </a:srgbClr>
          </a:solidFill>
          <a:ln xmlns:a="http://schemas.openxmlformats.org/drawingml/2006/main" w="11430">
            <a:solidFill>
              <a:srgbClr val="F3C7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closing-cta">
            <a:extLst xmlns:a="http://schemas.openxmlformats.org/drawingml/2006/main">
              <a:ext uri="{FF2B5EF4-FFF2-40B4-BE49-F238E27FC236}">
                <a16:creationId xmlns:a16="http://schemas.microsoft.com/office/drawing/2014/main" id="{C1A7AE54-2CB4-487D-A4D1-40CEDE4D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27685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C5A6B"/>
                </a:solidFill>
                <a:latin typeface="Microsoft YaHei"/>
                <a:ea typeface="Microsoft YaHei"/>
                <a:cs typeface="Microsoft YaHei"/>
              </a:rPr>
              <a:t>把注意力带回生活，定力会慢慢回来</a:t>
            </a:r>
          </a:p>
        </p:txBody>
      </p:sp>
    </p:spTree>
    <p:extLst>
      <p:ext uri="{BB962C8B-B14F-4D97-AF65-F5344CB8AC3E}">
        <p14:creationId xmlns:p14="http://schemas.microsoft.com/office/powerpoint/2010/main" val="7286773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2026-07-15T05:45:22.9030000Z</dcterms:created>
  <dcterms:modified xsi:type="dcterms:W3CDTF">2026-07-15T05:45:22.9030000Z</dcterms:modified>
</coreProperties>
</file>